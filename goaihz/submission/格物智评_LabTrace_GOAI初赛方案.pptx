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c33f8178634cda" /><Relationship Type="http://schemas.openxmlformats.org/officeDocument/2006/relationships/extended-properties" Target="/docProps/app.xml" Id="R01d9884b961d445f" /><Relationship Type="http://schemas.openxmlformats.org/officeDocument/2006/relationships/officeDocument" Target="/ppt/presentation.xml" Id="R1abbcd44f04c44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8c27dd19fa40c2"/>
  </p:sldMasterIdLst>
  <p:notesMasterIdLst>
    <p:notesMasterId xmlns:r="http://schemas.openxmlformats.org/officeDocument/2006/relationships" r:id="R186e97e6be134c24"/>
  </p:notesMasterIdLst>
  <p:sldIdLst>
    <p:sldId xmlns:r="http://schemas.openxmlformats.org/officeDocument/2006/relationships" id="256" r:id="R4c8671a3bf72428f"/>
    <p:sldId xmlns:r="http://schemas.openxmlformats.org/officeDocument/2006/relationships" id="257" r:id="R94456afb93f4472c"/>
    <p:sldId xmlns:r="http://schemas.openxmlformats.org/officeDocument/2006/relationships" id="258" r:id="R8ffdfadec4eb453a"/>
    <p:sldId xmlns:r="http://schemas.openxmlformats.org/officeDocument/2006/relationships" id="259" r:id="Rff68534ebf7d4b93"/>
    <p:sldId xmlns:r="http://schemas.openxmlformats.org/officeDocument/2006/relationships" id="260" r:id="Re2c56e9da65844da"/>
    <p:sldId xmlns:r="http://schemas.openxmlformats.org/officeDocument/2006/relationships" id="261" r:id="R66fa8cbeb0404cb4"/>
    <p:sldId xmlns:r="http://schemas.openxmlformats.org/officeDocument/2006/relationships" id="262" r:id="R6b8d1d3aeb624a2b"/>
    <p:sldId xmlns:r="http://schemas.openxmlformats.org/officeDocument/2006/relationships" id="263" r:id="R808a74bbc8ea4f0c"/>
    <p:sldId xmlns:r="http://schemas.openxmlformats.org/officeDocument/2006/relationships" id="264" r:id="R2b3c74b6d8214b00"/>
    <p:sldId xmlns:r="http://schemas.openxmlformats.org/officeDocument/2006/relationships" id="265" r:id="Rf59d3938638c48bb"/>
    <p:sldId xmlns:r="http://schemas.openxmlformats.org/officeDocument/2006/relationships" id="266" r:id="R1ed686f28c0740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6af9727db94aa8" /><Relationship Type="http://schemas.openxmlformats.org/officeDocument/2006/relationships/slideMaster" Target="/ppt/slideMasters/slideMaster1.xml" Id="Rc38c27dd19fa40c2" /><Relationship Type="http://schemas.openxmlformats.org/officeDocument/2006/relationships/notesMaster" Target="/ppt/notesMasters/notesMaster1.xml" Id="R186e97e6be134c24" /><Relationship Type="http://schemas.openxmlformats.org/officeDocument/2006/relationships/presProps" Target="/ppt/presProps.xml" Id="Rd547fe4f6aa34f03" /><Relationship Type="http://schemas.openxmlformats.org/officeDocument/2006/relationships/tableStyles" Target="/ppt/tableStyles.xml" Id="R4884cc6d949e4d15" /><Relationship Type="http://schemas.openxmlformats.org/officeDocument/2006/relationships/slide" Target="/ppt/slides/slide1.xml" Id="R4c8671a3bf72428f" /><Relationship Type="http://schemas.openxmlformats.org/officeDocument/2006/relationships/slide" Target="/ppt/slides/slide2.xml" Id="R94456afb93f4472c" /><Relationship Type="http://schemas.openxmlformats.org/officeDocument/2006/relationships/slide" Target="/ppt/slides/slide3.xml" Id="R8ffdfadec4eb453a" /><Relationship Type="http://schemas.openxmlformats.org/officeDocument/2006/relationships/slide" Target="/ppt/slides/slide4.xml" Id="Rff68534ebf7d4b93" /><Relationship Type="http://schemas.openxmlformats.org/officeDocument/2006/relationships/slide" Target="/ppt/slides/slide5.xml" Id="Re2c56e9da65844da" /><Relationship Type="http://schemas.openxmlformats.org/officeDocument/2006/relationships/slide" Target="/ppt/slides/slide6.xml" Id="R66fa8cbeb0404cb4" /><Relationship Type="http://schemas.openxmlformats.org/officeDocument/2006/relationships/slide" Target="/ppt/slides/slide7.xml" Id="R6b8d1d3aeb624a2b" /><Relationship Type="http://schemas.openxmlformats.org/officeDocument/2006/relationships/slide" Target="/ppt/slides/slide8.xml" Id="R808a74bbc8ea4f0c" /><Relationship Type="http://schemas.openxmlformats.org/officeDocument/2006/relationships/slide" Target="/ppt/slides/slide9.xml" Id="R2b3c74b6d8214b00" /><Relationship Type="http://schemas.openxmlformats.org/officeDocument/2006/relationships/slide" Target="/ppt/slides/slide10.xml" Id="Rf59d3938638c48bb" /><Relationship Type="http://schemas.openxmlformats.org/officeDocument/2006/relationships/slide" Target="/ppt/slides/slide11.xml" Id="R1ed686f28c0740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8cf892fed43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LabTrace Evidence Dossier">
      <a:dk1>
        <a:srgbClr val="0F2B22"/>
      </a:dk1>
      <a:lt1>
        <a:srgbClr val="FFFDF8"/>
      </a:lt1>
      <a:dk2>
        <a:srgbClr val="163F30"/>
      </a:dk2>
      <a:lt2>
        <a:srgbClr val="DCE8DD"/>
      </a:lt2>
      <a:accent1>
        <a:srgbClr val="163F30"/>
      </a:accent1>
      <a:accent2>
        <a:srgbClr val="E96A42"/>
      </a:accent2>
      <a:accent3>
        <a:srgbClr val="BFD3C4"/>
      </a:accent3>
      <a:accent4>
        <a:srgbClr val="D7B574"/>
      </a:accent4>
      <a:accent5>
        <a:srgbClr val="F5D7C9"/>
      </a:accent5>
      <a:accent6>
        <a:srgbClr val="65736B"/>
      </a:accent6>
      <a:hlink>
        <a:srgbClr val="E96A42"/>
      </a:hlink>
      <a:folHlink>
        <a:srgbClr val="D7B57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abTrace Evidence Dossi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4ec7cdb3614980" /><Relationship Type="http://schemas.openxmlformats.org/officeDocument/2006/relationships/notesMaster" Target="/ppt/notesMasters/notesMaster1.xml" Id="Rc27b963ec55247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f11d4bb2c84b4b" /><Relationship Type="http://schemas.openxmlformats.org/officeDocument/2006/relationships/notesMaster" Target="/ppt/notesMasters/notesMaster1.xml" Id="R6bd251acca4446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08ba66b5974305" /><Relationship Type="http://schemas.openxmlformats.org/officeDocument/2006/relationships/notesMaster" Target="/ppt/notesMasters/notesMaster1.xml" Id="R138753b00db446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528eb899e8471e" /><Relationship Type="http://schemas.openxmlformats.org/officeDocument/2006/relationships/notesMaster" Target="/ppt/notesMasters/notesMaster1.xml" Id="Rc966e55c2efb48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3d957c0a3a493f" /><Relationship Type="http://schemas.openxmlformats.org/officeDocument/2006/relationships/notesMaster" Target="/ppt/notesMasters/notesMaster1.xml" Id="R365b7f11997343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384d7b00814e28" /><Relationship Type="http://schemas.openxmlformats.org/officeDocument/2006/relationships/notesMaster" Target="/ppt/notesMasters/notesMaster1.xml" Id="R4b5e5af9282945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a9b19e3f404214" /><Relationship Type="http://schemas.openxmlformats.org/officeDocument/2006/relationships/notesMaster" Target="/ppt/notesMasters/notesMaster1.xml" Id="R399a8eb476054f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b06706b6aa4eff" /><Relationship Type="http://schemas.openxmlformats.org/officeDocument/2006/relationships/notesMaster" Target="/ppt/notesMasters/notesMaster1.xml" Id="R74ace877baa24a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5b15c2ff5e4acc" /><Relationship Type="http://schemas.openxmlformats.org/officeDocument/2006/relationships/notesMaster" Target="/ppt/notesMasters/notesMaster1.xml" Id="Rf6ea0734d62949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e70cab623949a0" /><Relationship Type="http://schemas.openxmlformats.org/officeDocument/2006/relationships/notesMaster" Target="/ppt/notesMasters/notesMaster1.xml" Id="Rd4bf7703d38c46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3fff3759844575" /><Relationship Type="http://schemas.openxmlformats.org/officeDocument/2006/relationships/notesMaster" Target="/ppt/notesMasters/notesMaster1.xml" Id="Rea4d8b38c9cd4d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格物智评的核心差异不是再生成一段评分文本，而是保留原报告正文、表格和图片，把证据批注、成绩与教师评语写回可编辑 Word。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goaihz/README.md</a:t>
            </a:r>
          </a:p>
          <a:p xmlns:a="http://schemas.openxmlformats.org/drawingml/2006/main">
            <a:r>
              <a:t>- goaihz/docs/product.md</a:t>
            </a:r>
          </a:p>
          <a:p xmlns:a="http://schemas.openxmlformats.org/drawingml/2006/main">
            <a:r>
              <a:t>- https://yywebsite.cn/education/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真实批改的最后一公里发生在 Word：证据要落在原文位置，教师要能继续编辑、签字、归档和返还。聊天回答只完成了建议，没有完成交付。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goaihz/docs/product.md</a:t>
            </a:r>
          </a:p>
          <a:p xmlns:a="http://schemas.openxmlformats.org/drawingml/2006/main">
            <a:r>
              <a:t>- goaihz/docs/closed_loop_demo_plan.md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图片证据不仅有 evidence_id，还保留原 DOCX 段落号。模型建议先通过 GradeTrace，再由教师终审；最终 Word 是由确认后的 trace 重新生成。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goaihz/api.py</a:t>
            </a:r>
          </a:p>
          <a:p xmlns:a="http://schemas.openxmlformats.org/drawingml/2006/main">
            <a:r>
              <a:t>- goaihz/model_engine.py</a:t>
            </a:r>
          </a:p>
          <a:p xmlns:a="http://schemas.openxmlformats.org/drawingml/2006/main">
            <a:r>
              <a:t>- agent_skills/doc-parser/scripts/parse_docx.py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两个样例都包含人工合成图片，并通过同一 Word 输入与交付契约。过敏原报告完全合成且不作医学诊断；游戏报告只参考实际课程任务结构重构。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goaihz/data/synthetic/demo-allergen-001_实验报告.docx</a:t>
            </a:r>
          </a:p>
          <a:p xmlns:a="http://schemas.openxmlformats.org/drawingml/2006/main">
            <a:r>
              <a:t>- goaihz/data/synthetic/demo-game-dev-001_实验报告.docx</a:t>
            </a:r>
          </a:p>
          <a:p xmlns:a="http://schemas.openxmlformats.org/drawingml/2006/main">
            <a:r>
              <a:t>- goaihz/submission/数据与合规说明.md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 2026-07-30 生产环境真实运行：MiniMax-M3 分析 1 张合成截图，页面显示 1 条图片定位批注和 5 条 Word 原生批注，任务停在教师终审。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https://yywebsite.cn/education/</a:t>
            </a:r>
          </a:p>
          <a:p xmlns:a="http://schemas.openxmlformats.org/drawingml/2006/main">
            <a:r>
              <a:t>- goaihz/submission/assets/labtrace-word-native-result.png</a:t>
            </a:r>
          </a:p>
          <a:p xmlns:a="http://schemas.openxmlformats.org/drawingml/2006/main">
            <a:r>
              <a:t>- goaihz/tmp/production-word-native/game-trace.json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过敏原报告使用人工合成标准曲线图片。系统仍会指出缺少变异系数、回收率、异常值和检出限讨论；图片只是证据的一部分，不构成医学诊断。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goaihz/data/synthetic/demo-allergen-001_实验报告.docx</a:t>
            </a:r>
          </a:p>
          <a:p xmlns:a="http://schemas.openxmlformats.org/drawingml/2006/main">
            <a:r>
              <a:t>- goaihz/docs/compliance.md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同一次生产运行中，MiniMax-M3 实际查看 1 张合成运行截图。图片证据通过 image:1@paragraph:16 绑定到原 Word 图片段落，输出 Word 中存在以“图片证据批注”开头的原生评论。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https://yywebsite.cn/education/</a:t>
            </a:r>
          </a:p>
          <a:p xmlns:a="http://schemas.openxmlformats.org/drawingml/2006/main">
            <a:r>
              <a:t>- goaihz/tmp/production-word-native/game-trace.json</a:t>
            </a:r>
          </a:p>
          <a:p xmlns:a="http://schemas.openxmlformats.org/drawingml/2006/main">
            <a:r>
              <a:t>- goaihz/tmp/production-word-native/comments.json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生产运行中，教师核对合成截图、三次运行表和课程标准，将数据与证据维度从 19 调到 21，总分由 75 调整为 77。下载 Word 重新打开后，教师说明、77 分、5 条评论和 1 张原图均存在。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goaihz/tmp/production-word-native/game-reviewed.docx</a:t>
            </a:r>
          </a:p>
          <a:p xmlns:a="http://schemas.openxmlformats.org/drawingml/2006/main">
            <a:r>
              <a:t>- goaihz/tmp/production-word-native/comments.json</a:t>
            </a:r>
          </a:p>
          <a:p xmlns:a="http://schemas.openxmlformats.org/drawingml/2006/main">
            <a:r>
              <a:t>- goaihz/tests/test_competition_profile.py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本页使用确定性回归的 4 份已复核合成记录，展示批改结果如何进入下一轮教学；它不是对真实班级或模型准确率的统计结论。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goaihz/scripts/run_diagnosis.py</a:t>
            </a:r>
          </a:p>
          <a:p xmlns:a="http://schemas.openxmlformats.org/drawingml/2006/main">
            <a:r>
              <a:t>- goaihz/docs/evaluation.md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 项测试覆盖图片原段落定位、模型图片证据、任意 Word 批改页、原图保留、原生评论锚点，以及教师终审后重新下载。生产容器限制 1 GiB；完成真实图文任务并删除后实测约 78.58 MiB。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goaihz/tests/test_competition_profile.py</a:t>
            </a:r>
          </a:p>
          <a:p xmlns:a="http://schemas.openxmlformats.org/drawingml/2006/main">
            <a:r>
              <a:t>- goaihz/docs/deployment_runbook.md</a:t>
            </a:r>
          </a:p>
          <a:p xmlns:a="http://schemas.openxmlformats.org/drawingml/2006/main">
            <a:r>
              <a:t>- goaihz/docker-compose.production.yml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初赛已经交付图文 Word 原生批改、图片证据定位、真实模型、教师终审、可编辑 Word 和数据删除。复赛再补批量、权限和教师金标评测，不把未验证准确率包装成结果。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goaihz/docs/engineering_plan_v1.md</a:t>
            </a:r>
          </a:p>
          <a:p xmlns:a="http://schemas.openxmlformats.org/drawingml/2006/main">
            <a:r>
              <a:t>- goaihz/submission/初赛提交清单.md</a:t>
            </a:r>
          </a:p>
          <a:p xmlns:a="http://schemas.openxmlformats.org/drawingml/2006/main">
            <a:r>
              <a:t>- https://yywebsite.cn/education/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f2b7495c449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0b12b0d7ec471f" /><Relationship Type="http://schemas.openxmlformats.org/officeDocument/2006/relationships/slideLayout" Target="/ppt/slideLayouts/slideLayout1.xml" Id="R0604346338c341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04346338c341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abTrace Evidence Dossier">
      <a:dk1>
        <a:srgbClr val="0F2B22"/>
      </a:dk1>
      <a:lt1>
        <a:srgbClr val="FFFDF8"/>
      </a:lt1>
      <a:dk2>
        <a:srgbClr val="163F30"/>
      </a:dk2>
      <a:lt2>
        <a:srgbClr val="DCE8DD"/>
      </a:lt2>
      <a:accent1>
        <a:srgbClr val="163F30"/>
      </a:accent1>
      <a:accent2>
        <a:srgbClr val="E96A42"/>
      </a:accent2>
      <a:accent3>
        <a:srgbClr val="BFD3C4"/>
      </a:accent3>
      <a:accent4>
        <a:srgbClr val="D7B574"/>
      </a:accent4>
      <a:accent5>
        <a:srgbClr val="F5D7C9"/>
      </a:accent5>
      <a:accent6>
        <a:srgbClr val="65736B"/>
      </a:accent6>
      <a:hlink>
        <a:srgbClr val="E96A42"/>
      </a:hlink>
      <a:folHlink>
        <a:srgbClr val="D7B57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abTrace Evidence Dossi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5674063434337" /><Relationship Type="http://schemas.openxmlformats.org/officeDocument/2006/relationships/image" Target="/ppt/media/image.png" Id="R857f8731cff44b29" /><Relationship Type="http://schemas.openxmlformats.org/officeDocument/2006/relationships/image" Target="/ppt/media/image2.png" Id="R92601fb1137c4207" /><Relationship Type="http://schemas.openxmlformats.org/officeDocument/2006/relationships/notesSlide" Target="/ppt/notesSlides/notesSlide1.xml" Id="R5539fd545e8a4a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e904e6508410f" /><Relationship Type="http://schemas.openxmlformats.org/officeDocument/2006/relationships/notesSlide" Target="/ppt/notesSlides/notesSlide2.xml" Id="R22ba99e77b2443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e560476ee4dfe" /><Relationship Type="http://schemas.openxmlformats.org/officeDocument/2006/relationships/notesSlide" Target="/ppt/notesSlides/notesSlide3.xml" Id="R2031c1e5a9d941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e83d6d8b64648" /><Relationship Type="http://schemas.openxmlformats.org/officeDocument/2006/relationships/image" Target="/ppt/media/image3.png" Id="R6dfb4552593c4fa9" /><Relationship Type="http://schemas.openxmlformats.org/officeDocument/2006/relationships/image" Target="/ppt/media/image4.png" Id="R137f7b690c5945cd" /><Relationship Type="http://schemas.openxmlformats.org/officeDocument/2006/relationships/notesSlide" Target="/ppt/notesSlides/notesSlide4.xml" Id="R2870fecbd07f4a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a679f562e4e16" /><Relationship Type="http://schemas.openxmlformats.org/officeDocument/2006/relationships/image" Target="/ppt/media/image5.png" Id="R98983aaeed954cb8" /><Relationship Type="http://schemas.openxmlformats.org/officeDocument/2006/relationships/notesSlide" Target="/ppt/notesSlides/notesSlide5.xml" Id="Rcc77ee1f9e1c46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71dd0b3094d2b" /><Relationship Type="http://schemas.openxmlformats.org/officeDocument/2006/relationships/image" Target="/ppt/media/image6.png" Id="R277506531fe24493" /><Relationship Type="http://schemas.openxmlformats.org/officeDocument/2006/relationships/image" Target="/ppt/media/image.jpeg" Id="Rf2fd2b0e16414f08" /><Relationship Type="http://schemas.openxmlformats.org/officeDocument/2006/relationships/notesSlide" Target="/ppt/notesSlides/notesSlide6.xml" Id="Rbfff1ba8bf5746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e5c8fff094160" /><Relationship Type="http://schemas.openxmlformats.org/officeDocument/2006/relationships/image" Target="/ppt/media/image7.png" Id="R563a4920ffc4495d" /><Relationship Type="http://schemas.openxmlformats.org/officeDocument/2006/relationships/image" Target="/ppt/media/image8.png" Id="R369bf7683d674da0" /><Relationship Type="http://schemas.openxmlformats.org/officeDocument/2006/relationships/notesSlide" Target="/ppt/notesSlides/notesSlide7.xml" Id="R6d326b43887442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32fd6db534be2" /><Relationship Type="http://schemas.openxmlformats.org/officeDocument/2006/relationships/image" Target="/ppt/media/image9.png" Id="Ra62cb7b4c8884bd6" /><Relationship Type="http://schemas.openxmlformats.org/officeDocument/2006/relationships/notesSlide" Target="/ppt/notesSlides/notesSlide8.xml" Id="R1db2a57ae7014b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6db0a442b44e8" /><Relationship Type="http://schemas.openxmlformats.org/officeDocument/2006/relationships/image" Target="/ppt/media/image2.jpeg" Id="R1496d18fe2054726" /><Relationship Type="http://schemas.openxmlformats.org/officeDocument/2006/relationships/notesSlide" Target="/ppt/notesSlides/notesSlide9.xml" Id="R95c09b69abc94a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8d1fcff5b467e" /><Relationship Type="http://schemas.openxmlformats.org/officeDocument/2006/relationships/notesSlide" Target="/ppt/notesSlides/notesSlide10.xml" Id="Rbe40d2c1e89949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931aa6d6a494f" /><Relationship Type="http://schemas.openxmlformats.org/officeDocument/2006/relationships/notesSlide" Target="/ppt/notesSlides/notesSlide11.xml" Id="Re16e7d688ba341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ver-band">
            <a:extLst xmlns:a="http://schemas.openxmlformats.org/drawingml/2006/main">
              <a:ext uri="{FF2B5EF4-FFF2-40B4-BE49-F238E27FC236}">
                <a16:creationId xmlns:a16="http://schemas.microsoft.com/office/drawing/2014/main" id="{641E11B9-5278-4C72-9A1E-242A2434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2"/>
          </a:solidFill>
          <a:ln xmlns:a="http://schemas.openxmlformats.org/drawingml/2006/main" w="0">
            <a:solidFill>
              <a:srgbClr val="E96A42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3F4F1B1-8EE3-46A6-A085-DC4DB719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D7C9"/>
                </a:solidFill>
                <a:latin typeface="FandolHei"/>
                <a:ea typeface="FandolHei"/>
                <a:cs typeface="FandolHei"/>
              </a:defRPr>
            </a:pPr>
            <a:r>
              <a:rPr sz="1200" b="1">
                <a:solidFill>
                  <a:srgbClr val="F5D7C9"/>
                </a:solidFill>
                <a:latin typeface="FandolHei"/>
                <a:ea typeface="FandolHei"/>
                <a:cs typeface="FandolHei"/>
              </a:rPr>
              <a:t>GOAI 2026 · AI+教育 · 初赛方案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10F37B7-AF63-4F42-B258-7D97019A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2387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5100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格物智评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5100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LabTrace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0257671-A4D3-416D-B648-3845D83D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CE8DD"/>
                </a:solidFill>
                <a:latin typeface="FandolHei"/>
                <a:ea typeface="FandolHei"/>
                <a:cs typeface="FandolHei"/>
              </a:defRPr>
            </a:pPr>
            <a:r>
              <a:rPr sz="2025" b="0">
                <a:solidFill>
                  <a:srgbClr val="DCE8DD"/>
                </a:solidFill>
                <a:latin typeface="FandolHei"/>
                <a:ea typeface="FandolHei"/>
                <a:cs typeface="FandolHei"/>
              </a:rPr>
              <a:t>高校图文 Word 原生批改 Agent</a:t>
            </a:r>
          </a:p>
        </p:txBody>
      </p:sp>
      <p:cxnSp>
        <p:nvCxnSpPr>
          <p:cNvPr id="46" name="cover-rule"/>
          <p:cNvCxnSpPr/>
          <p:nvPr/>
        </p:nvCxnSpPr>
        <p:spPr>
          <a:xfrm xmlns:a="http://schemas.openxmlformats.org/drawingml/2006/main">
            <a:off x="590550" y="4095750"/>
            <a:ext cx="457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42"/>
            </a:solidFill>
            <a:prstDash val="solid"/>
          </a:ln>
        </p:spPr>
      </p:cxnSp>
      <p:sp>
        <p:nvSpPr>
          <p:cNvPr id="6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943262F4-E0EE-4856-96EB-F6F39E07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2025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上传一份图文 Word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2025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交还一份已批注、可编辑的 Word</a:t>
            </a:r>
          </a:p>
        </p:txBody>
      </p:sp>
      <p:sp>
        <p:nvSpPr>
          <p:cNvPr id="7" name="cover-team">
            <a:extLst xmlns:a="http://schemas.openxmlformats.org/drawingml/2006/main">
              <a:ext uri="{FF2B5EF4-FFF2-40B4-BE49-F238E27FC236}">
                <a16:creationId xmlns:a16="http://schemas.microsoft.com/office/drawing/2014/main" id="{B14A04EA-F4B5-440A-8EC1-8FCA8783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FD3C4"/>
                </a:solidFill>
                <a:latin typeface="FandolHei"/>
                <a:ea typeface="FandolHei"/>
                <a:cs typeface="FandolHei"/>
              </a:defRPr>
            </a:pPr>
            <a:r>
              <a:rPr sz="1125" b="0">
                <a:solidFill>
                  <a:srgbClr val="BFD3C4"/>
                </a:solidFill>
                <a:latin typeface="FandolHei"/>
                <a:ea typeface="FandolHei"/>
                <a:cs typeface="FandolHei"/>
              </a:rPr>
              <a:t>单人队伍：独立变量</a:t>
            </a:r>
          </a:p>
        </p:txBody>
      </p:sp>
      <p:sp>
        <p:nvSpPr>
          <p:cNvPr id="8" name="cover-allergen-frame">
            <a:extLst xmlns:a="http://schemas.openxmlformats.org/drawingml/2006/main">
              <a:ext uri="{FF2B5EF4-FFF2-40B4-BE49-F238E27FC236}">
                <a16:creationId xmlns:a16="http://schemas.microsoft.com/office/drawing/2014/main" id="{70C95E0D-4DF3-4D9D-AAC3-9C238877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04850"/>
            <a:ext cx="2152650" cy="51625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BFD3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f8731cff44b29"/>
          <a:stretch xmlns:a="http://schemas.openxmlformats.org/drawingml/2006/main"/>
        </p:blipFill>
        <p:spPr>
          <a:xfrm xmlns:a="http://schemas.openxmlformats.org/drawingml/2006/main">
            <a:off x="6638925" y="1979519"/>
            <a:ext cx="2019300" cy="2613212"/>
          </a:xfrm>
          <a:prstGeom xmlns:a="http://schemas.openxmlformats.org/drawingml/2006/main" prst="rect">
            <a:avLst/>
          </a:prstGeom>
        </p:spPr>
      </p:pic>
      <p:sp>
        <p:nvSpPr>
          <p:cNvPr id="10" name="cover-game-frame">
            <a:extLst xmlns:a="http://schemas.openxmlformats.org/drawingml/2006/main">
              <a:ext uri="{FF2B5EF4-FFF2-40B4-BE49-F238E27FC236}">
                <a16:creationId xmlns:a16="http://schemas.microsoft.com/office/drawing/2014/main" id="{26E2BF20-D9B7-4169-8047-8F923B9B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990600"/>
            <a:ext cx="2152650" cy="51625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6A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01fb1137c4207"/>
          <a:stretch xmlns:a="http://schemas.openxmlformats.org/drawingml/2006/main"/>
        </p:blipFill>
        <p:spPr>
          <a:xfrm xmlns:a="http://schemas.openxmlformats.org/drawingml/2006/main">
            <a:off x="9096375" y="2265269"/>
            <a:ext cx="2019300" cy="2613212"/>
          </a:xfrm>
          <a:prstGeom xmlns:a="http://schemas.openxmlformats.org/drawingml/2006/main" prst="rect">
            <a:avLst/>
          </a:prstGeom>
        </p:spPr>
      </p:pic>
      <p:sp>
        <p:nvSpPr>
          <p:cNvPr id="12" name="cover-tag-bg">
            <a:extLst xmlns:a="http://schemas.openxmlformats.org/drawingml/2006/main">
              <a:ext uri="{FF2B5EF4-FFF2-40B4-BE49-F238E27FC236}">
                <a16:creationId xmlns:a16="http://schemas.microsoft.com/office/drawing/2014/main" id="{EC2A23B6-6DC6-46E1-B4D5-98A6E06B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191250"/>
            <a:ext cx="3638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tag">
            <a:extLst xmlns:a="http://schemas.openxmlformats.org/drawingml/2006/main">
              <a:ext uri="{FF2B5EF4-FFF2-40B4-BE49-F238E27FC236}">
                <a16:creationId xmlns:a16="http://schemas.microsoft.com/office/drawing/2014/main" id="{6072CFE9-9D29-4ABA-B519-9AEBA391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21030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跨课程 · 可复核 · 可复现</a:t>
            </a:r>
          </a:p>
        </p:txBody>
      </p:sp>
    </p:spTree>
    <p:extLst>
      <p:ext uri="{BB962C8B-B14F-4D97-AF65-F5344CB8AC3E}">
        <p14:creationId xmlns:p14="http://schemas.microsoft.com/office/powerpoint/2010/main" val="32752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2">
            <a:extLst xmlns:a="http://schemas.openxmlformats.org/drawingml/2006/main">
              <a:ext uri="{FF2B5EF4-FFF2-40B4-BE49-F238E27FC236}">
                <a16:creationId xmlns:a16="http://schemas.microsoft.com/office/drawing/2014/main" id="{F6406EC2-2171-4DFE-9105-93041021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SCENE VALUE · 真实需求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2926D546-A513-43B8-B696-5648D89F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5A9AFE15-B272-447F-B384-08423E90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聊天答案没有完成 Word 批改的最后一公里</a:t>
            </a:r>
          </a:p>
        </p:txBody>
      </p:sp>
      <p:cxnSp>
        <p:nvCxnSpPr>
          <p:cNvPr id="84" name="top-rule-2"/>
          <p:cNvCxnSpPr/>
          <p:nvPr/>
        </p:nvCxn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3F30"/>
            </a:solidFill>
            <a:prstDash val="solid"/>
          </a:ln>
        </p:spPr>
      </p:cxnSp>
      <p:sp>
        <p:nvSpPr>
          <p:cNvPr id="5" name="corpus-value">
            <a:extLst xmlns:a="http://schemas.openxmlformats.org/drawingml/2006/main">
              <a:ext uri="{FF2B5EF4-FFF2-40B4-BE49-F238E27FC236}">
                <a16:creationId xmlns:a16="http://schemas.microsoft.com/office/drawing/2014/main" id="{78B84E58-BACD-4F06-9486-6A1EBA23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69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69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57</a:t>
            </a:r>
          </a:p>
        </p:txBody>
      </p:sp>
      <p:sp>
        <p:nvSpPr>
          <p:cNvPr id="6" name="corpus-caption">
            <a:extLst xmlns:a="http://schemas.openxmlformats.org/drawingml/2006/main">
              <a:ext uri="{FF2B5EF4-FFF2-40B4-BE49-F238E27FC236}">
                <a16:creationId xmlns:a16="http://schemas.microsoft.com/office/drawing/2014/main" id="{74940431-C6BF-4513-9450-5A1EDEFD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份游戏开发课程实验报告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用于内部需求观察（不公开原文）</a:t>
            </a:r>
          </a:p>
        </p:txBody>
      </p:sp>
      <p:cxnSp>
        <p:nvCxnSpPr>
          <p:cNvPr id="87" name="problem-v"/>
          <p:cNvCxnSpPr/>
          <p:nvPr/>
        </p:nvCxnSpPr>
        <p:spPr>
          <a:xfrm xmlns:a="http://schemas.openxmlformats.org/drawingml/2006/main">
            <a:off x="3352800" y="16002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0C8"/>
            </a:solidFill>
            <a:prstDash val="solid"/>
          </a:ln>
        </p:spPr>
      </p:cxnSp>
      <p:sp>
        <p:nvSpPr>
          <p:cNvPr id="8" name="problem-no-0">
            <a:extLst xmlns:a="http://schemas.openxmlformats.org/drawingml/2006/main">
              <a:ext uri="{FF2B5EF4-FFF2-40B4-BE49-F238E27FC236}">
                <a16:creationId xmlns:a16="http://schemas.microsoft.com/office/drawing/2014/main" id="{31735803-1748-4FE3-8E4B-D22EADCE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192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27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01</a:t>
            </a:r>
          </a:p>
        </p:txBody>
      </p:sp>
      <p:sp>
        <p:nvSpPr>
          <p:cNvPr id="9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DC55B932-5CD3-43E9-8033-4C5D00ED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81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21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图文定位</a:t>
            </a:r>
          </a:p>
        </p:txBody>
      </p:sp>
      <p:sp>
        <p:nvSpPr>
          <p:cNvPr id="10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70EF95BA-13A8-402C-8F8F-30D1AE1F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正文、表格和截图分散，教师需要反复查找证据位置。</a:t>
            </a:r>
          </a:p>
        </p:txBody>
      </p:sp>
      <p:cxnSp>
        <p:nvCxnSpPr>
          <p:cNvPr id="91" name="problem-rule-0"/>
          <p:cNvCxnSpPr/>
          <p:nvPr/>
        </p:nvCxnSpPr>
        <p:spPr>
          <a:xfrm xmlns:a="http://schemas.openxmlformats.org/drawingml/2006/main">
            <a:off x="3810000" y="2628900"/>
            <a:ext cx="7524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0C8"/>
            </a:solidFill>
            <a:prstDash val="solid"/>
          </a:ln>
        </p:spPr>
      </p:cxnSp>
      <p:sp>
        <p:nvSpPr>
          <p:cNvPr id="12" name="problem-no-1">
            <a:extLst xmlns:a="http://schemas.openxmlformats.org/drawingml/2006/main">
              <a:ext uri="{FF2B5EF4-FFF2-40B4-BE49-F238E27FC236}">
                <a16:creationId xmlns:a16="http://schemas.microsoft.com/office/drawing/2014/main" id="{C17A3508-FB1D-42DF-B98A-289785C9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480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27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02</a:t>
            </a:r>
          </a:p>
        </p:txBody>
      </p:sp>
      <p:sp>
        <p:nvSpPr>
          <p:cNvPr id="13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EA3689FA-1560-4F60-B9C1-05979005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21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结果搬运</a:t>
            </a:r>
          </a:p>
        </p:txBody>
      </p:sp>
      <p:sp>
        <p:nvSpPr>
          <p:cNvPr id="14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E3DD2F7A-CE45-47D0-ABDE-870988A2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AI 给出一段回答，教师仍要复制、批注、填分和写评语。</a:t>
            </a:r>
          </a:p>
        </p:txBody>
      </p:sp>
      <p:cxnSp>
        <p:nvCxnSpPr>
          <p:cNvPr id="95" name="problem-rule-1"/>
          <p:cNvCxnSpPr/>
          <p:nvPr/>
        </p:nvCxnSpPr>
        <p:spPr>
          <a:xfrm xmlns:a="http://schemas.openxmlformats.org/drawingml/2006/main">
            <a:off x="3810000" y="4057650"/>
            <a:ext cx="7524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0C8"/>
            </a:solidFill>
            <a:prstDash val="solid"/>
          </a:ln>
        </p:spPr>
      </p:cxnSp>
      <p:sp>
        <p:nvSpPr>
          <p:cNvPr id="16" name="problem-no-2">
            <a:extLst xmlns:a="http://schemas.openxmlformats.org/drawingml/2006/main">
              <a:ext uri="{FF2B5EF4-FFF2-40B4-BE49-F238E27FC236}">
                <a16:creationId xmlns:a16="http://schemas.microsoft.com/office/drawing/2014/main" id="{A9D50D33-20F2-4D4D-A0D7-B5AC2D2D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767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27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03</a:t>
            </a:r>
          </a:p>
        </p:txBody>
      </p:sp>
      <p:sp>
        <p:nvSpPr>
          <p:cNvPr id="17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78A9703B-AAB9-46D0-B66F-3E648B16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38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21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交付断层</a:t>
            </a:r>
          </a:p>
        </p:txBody>
      </p:sp>
      <p:sp>
        <p:nvSpPr>
          <p:cNvPr id="1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31AF0E5D-C6F2-421B-9597-CE0C4E5B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没有可编辑 Word，就难以返还、归档、复核与申诉。</a:t>
            </a:r>
          </a:p>
        </p:txBody>
      </p:sp>
      <p:sp>
        <p:nvSpPr>
          <p:cNvPr id="19" name="problem-scope-bg">
            <a:extLst xmlns:a="http://schemas.openxmlformats.org/drawingml/2006/main">
              <a:ext uri="{FF2B5EF4-FFF2-40B4-BE49-F238E27FC236}">
                <a16:creationId xmlns:a16="http://schemas.microsoft.com/office/drawing/2014/main" id="{EEA18AF2-A471-43AC-A963-9E3A8503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86450"/>
            <a:ext cx="66675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F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blem-scope">
            <a:extLst xmlns:a="http://schemas.openxmlformats.org/drawingml/2006/main">
              <a:ext uri="{FF2B5EF4-FFF2-40B4-BE49-F238E27FC236}">
                <a16:creationId xmlns:a16="http://schemas.microsoft.com/office/drawing/2014/main" id="{05346E04-08BC-4E91-8C37-3CA2F8A3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055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1275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需要“图文 Word → 证据判断 → 原生回写”的闭环</a:t>
            </a:r>
          </a:p>
        </p:txBody>
      </p:sp>
    </p:spTree>
    <p:extLst>
      <p:ext uri="{BB962C8B-B14F-4D97-AF65-F5344CB8AC3E}">
        <p14:creationId xmlns:p14="http://schemas.microsoft.com/office/powerpoint/2010/main" val="1389047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-3">
            <a:extLst xmlns:a="http://schemas.openxmlformats.org/drawingml/2006/main">
              <a:ext uri="{FF2B5EF4-FFF2-40B4-BE49-F238E27FC236}">
                <a16:creationId xmlns:a16="http://schemas.microsoft.com/office/drawing/2014/main" id="{23CBFE5F-F4E0-4984-9BB0-16AB0C6C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AGENT LOOP · 六步闭环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E5A0ED8D-4584-48DE-A44A-FF59B64B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5B8FD96F-14A9-43BF-95D0-052DF95B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Agent 的闭环，是把判断写回教师使用的 Word</a:t>
            </a:r>
          </a:p>
        </p:txBody>
      </p:sp>
      <p:cxnSp>
        <p:nvCxnSpPr>
          <p:cNvPr id="149" name="top-rule-3"/>
          <p:cNvCxnSpPr/>
          <p:nvPr/>
        </p:nvCxn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3F30"/>
            </a:solidFill>
            <a:prstDash val="solid"/>
          </a:ln>
        </p:spPr>
      </p:cxnSp>
      <p:sp>
        <p:nvSpPr>
          <p:cNvPr id="5" name="loop-no-0">
            <a:extLst xmlns:a="http://schemas.openxmlformats.org/drawingml/2006/main">
              <a:ext uri="{FF2B5EF4-FFF2-40B4-BE49-F238E27FC236}">
                <a16:creationId xmlns:a16="http://schemas.microsoft.com/office/drawing/2014/main" id="{A4F89690-FF0F-4589-A3D2-E94ECAE3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01</a:t>
            </a:r>
          </a:p>
        </p:txBody>
      </p:sp>
      <p:sp>
        <p:nvSpPr>
          <p:cNvPr id="6" name="loop-dot-0">
            <a:extLst xmlns:a="http://schemas.openxmlformats.org/drawingml/2006/main">
              <a:ext uri="{FF2B5EF4-FFF2-40B4-BE49-F238E27FC236}">
                <a16:creationId xmlns:a16="http://schemas.microsoft.com/office/drawing/2014/main" id="{12DCDA8E-6DEC-46C4-B64A-715B898B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52" name="loop-arrow-0"/>
          <p:cNvCxnSpPr/>
          <p:nvPr/>
        </p:nvCxnSpPr>
        <p:spPr>
          <a:xfrm xmlns:a="http://schemas.openxmlformats.org/drawingml/2006/main">
            <a:off x="876300" y="24193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42"/>
            </a:solidFill>
            <a:prstDash val="solid"/>
          </a:ln>
        </p:spPr>
      </p:cxnSp>
      <p:sp>
        <p:nvSpPr>
          <p:cNvPr id="8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ECB100CF-FF20-4288-9E97-A6DE9E3F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理解任务</a:t>
            </a:r>
          </a:p>
        </p:txBody>
      </p:sp>
      <p:sp>
        <p:nvSpPr>
          <p:cNvPr id="9" name="loop-body-0">
            <a:extLst xmlns:a="http://schemas.openxmlformats.org/drawingml/2006/main">
              <a:ext uri="{FF2B5EF4-FFF2-40B4-BE49-F238E27FC236}">
                <a16:creationId xmlns:a16="http://schemas.microsoft.com/office/drawing/2014/main" id="{8F1C7506-4746-4977-A1B8-252DC0E2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课程要求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rubric 版本</a:t>
            </a:r>
          </a:p>
        </p:txBody>
      </p:sp>
      <p:sp>
        <p:nvSpPr>
          <p:cNvPr id="10" name="loop-no-1">
            <a:extLst xmlns:a="http://schemas.openxmlformats.org/drawingml/2006/main">
              <a:ext uri="{FF2B5EF4-FFF2-40B4-BE49-F238E27FC236}">
                <a16:creationId xmlns:a16="http://schemas.microsoft.com/office/drawing/2014/main" id="{1DC56219-5544-4550-AB6D-C92FB0AE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809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02</a:t>
            </a:r>
          </a:p>
        </p:txBody>
      </p:sp>
      <p:sp>
        <p:nvSpPr>
          <p:cNvPr id="11" name="loop-dot-1">
            <a:extLst xmlns:a="http://schemas.openxmlformats.org/drawingml/2006/main">
              <a:ext uri="{FF2B5EF4-FFF2-40B4-BE49-F238E27FC236}">
                <a16:creationId xmlns:a16="http://schemas.microsoft.com/office/drawing/2014/main" id="{FA914D89-156B-4924-B71E-83C28F76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05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57" name="loop-arrow-1"/>
          <p:cNvCxnSpPr/>
          <p:nvPr/>
        </p:nvCxnSpPr>
        <p:spPr>
          <a:xfrm xmlns:a="http://schemas.openxmlformats.org/drawingml/2006/main">
            <a:off x="2771775" y="24193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42"/>
            </a:solidFill>
            <a:prstDash val="solid"/>
          </a:ln>
        </p:spPr>
      </p:cxnSp>
      <p:sp>
        <p:nvSpPr>
          <p:cNvPr id="13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55EF17A0-5366-4BCB-AA7E-D97DBE8C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5750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解析证据</a:t>
            </a:r>
          </a:p>
        </p:txBody>
      </p:sp>
      <p:sp>
        <p:nvSpPr>
          <p:cNvPr id="14" name="loop-body-1">
            <a:extLst xmlns:a="http://schemas.openxmlformats.org/drawingml/2006/main">
              <a:ext uri="{FF2B5EF4-FFF2-40B4-BE49-F238E27FC236}">
                <a16:creationId xmlns:a16="http://schemas.microsoft.com/office/drawing/2014/main" id="{F2011461-A8BA-45B1-ADA8-9D74F702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71850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正文 / 表格 / 图片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原 Word 段落号</a:t>
            </a:r>
          </a:p>
        </p:txBody>
      </p:sp>
      <p:sp>
        <p:nvSpPr>
          <p:cNvPr id="15" name="loop-no-2">
            <a:extLst xmlns:a="http://schemas.openxmlformats.org/drawingml/2006/main">
              <a:ext uri="{FF2B5EF4-FFF2-40B4-BE49-F238E27FC236}">
                <a16:creationId xmlns:a16="http://schemas.microsoft.com/office/drawing/2014/main" id="{ABFA360B-530A-4C73-B59D-0ECBA9B0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03</a:t>
            </a:r>
          </a:p>
        </p:txBody>
      </p:sp>
      <p:sp>
        <p:nvSpPr>
          <p:cNvPr id="16" name="loop-dot-2">
            <a:extLst xmlns:a="http://schemas.openxmlformats.org/drawingml/2006/main">
              <a:ext uri="{FF2B5EF4-FFF2-40B4-BE49-F238E27FC236}">
                <a16:creationId xmlns:a16="http://schemas.microsoft.com/office/drawing/2014/main" id="{5A52EBE7-E1A5-4015-A557-4CA219F3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62" name="loop-arrow-2"/>
          <p:cNvCxnSpPr/>
          <p:nvPr/>
        </p:nvCxnSpPr>
        <p:spPr>
          <a:xfrm xmlns:a="http://schemas.openxmlformats.org/drawingml/2006/main">
            <a:off x="4667250" y="24193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42"/>
            </a:solidFill>
            <a:prstDash val="solid"/>
          </a:ln>
        </p:spPr>
      </p:cxnSp>
      <p:sp>
        <p:nvSpPr>
          <p:cNvPr id="18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FC991AFE-DBA6-4679-B106-83ABEBAD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逐项判断</a:t>
            </a:r>
          </a:p>
        </p:txBody>
      </p:sp>
      <p:sp>
        <p:nvSpPr>
          <p:cNvPr id="19" name="loop-body-2">
            <a:extLst xmlns:a="http://schemas.openxmlformats.org/drawingml/2006/main">
              <a:ext uri="{FF2B5EF4-FFF2-40B4-BE49-F238E27FC236}">
                <a16:creationId xmlns:a16="http://schemas.microsoft.com/office/drawing/2014/main" id="{26399343-6F39-457F-B3C1-9F778164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理由绑定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证据定位</a:t>
            </a:r>
          </a:p>
        </p:txBody>
      </p:sp>
      <p:sp>
        <p:nvSpPr>
          <p:cNvPr id="20" name="loop-no-3">
            <a:extLst xmlns:a="http://schemas.openxmlformats.org/drawingml/2006/main">
              <a:ext uri="{FF2B5EF4-FFF2-40B4-BE49-F238E27FC236}">
                <a16:creationId xmlns:a16="http://schemas.microsoft.com/office/drawing/2014/main" id="{3DE35210-53BF-4AFE-8323-49413D44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04</a:t>
            </a:r>
          </a:p>
        </p:txBody>
      </p:sp>
      <p:sp>
        <p:nvSpPr>
          <p:cNvPr id="21" name="loop-dot-3">
            <a:extLst xmlns:a="http://schemas.openxmlformats.org/drawingml/2006/main">
              <a:ext uri="{FF2B5EF4-FFF2-40B4-BE49-F238E27FC236}">
                <a16:creationId xmlns:a16="http://schemas.microsoft.com/office/drawing/2014/main" id="{FF245515-F164-4070-97BA-C501035F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05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67" name="loop-arrow-3"/>
          <p:cNvCxnSpPr/>
          <p:nvPr/>
        </p:nvCxnSpPr>
        <p:spPr>
          <a:xfrm xmlns:a="http://schemas.openxmlformats.org/drawingml/2006/main">
            <a:off x="6562725" y="24193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42"/>
            </a:solidFill>
            <a:prstDash val="solid"/>
          </a:ln>
        </p:spPr>
      </p:cxnSp>
      <p:sp>
        <p:nvSpPr>
          <p:cNvPr id="23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8C5C8825-4F31-4CE9-B42A-30DD3050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5750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确定校验</a:t>
            </a:r>
          </a:p>
        </p:txBody>
      </p:sp>
      <p:sp>
        <p:nvSpPr>
          <p:cNvPr id="24" name="loop-body-3">
            <a:extLst xmlns:a="http://schemas.openxmlformats.org/drawingml/2006/main">
              <a:ext uri="{FF2B5EF4-FFF2-40B4-BE49-F238E27FC236}">
                <a16:creationId xmlns:a16="http://schemas.microsoft.com/office/drawing/2014/main" id="{34D86F4D-E22A-451C-BB42-9C5DF58F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71850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分值范围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引用关系</a:t>
            </a:r>
          </a:p>
        </p:txBody>
      </p:sp>
      <p:sp>
        <p:nvSpPr>
          <p:cNvPr id="25" name="loop-no-4">
            <a:extLst xmlns:a="http://schemas.openxmlformats.org/drawingml/2006/main">
              <a:ext uri="{FF2B5EF4-FFF2-40B4-BE49-F238E27FC236}">
                <a16:creationId xmlns:a16="http://schemas.microsoft.com/office/drawing/2014/main" id="{0B4FC18D-972E-4F1C-8527-830CCF3D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05</a:t>
            </a:r>
          </a:p>
        </p:txBody>
      </p:sp>
      <p:sp>
        <p:nvSpPr>
          <p:cNvPr id="26" name="loop-dot-4">
            <a:extLst xmlns:a="http://schemas.openxmlformats.org/drawingml/2006/main">
              <a:ext uri="{FF2B5EF4-FFF2-40B4-BE49-F238E27FC236}">
                <a16:creationId xmlns:a16="http://schemas.microsoft.com/office/drawing/2014/main" id="{E3289178-D9CD-4994-A55C-0426B3AC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A4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72" name="loop-arrow-4"/>
          <p:cNvCxnSpPr/>
          <p:nvPr/>
        </p:nvCxnSpPr>
        <p:spPr>
          <a:xfrm xmlns:a="http://schemas.openxmlformats.org/drawingml/2006/main">
            <a:off x="8458200" y="24193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42"/>
            </a:solidFill>
            <a:prstDash val="solid"/>
          </a:ln>
        </p:spPr>
      </p:cxnSp>
      <p:sp>
        <p:nvSpPr>
          <p:cNvPr id="28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21D5CABA-2C1C-45A5-8479-5536C2E3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教师终审</a:t>
            </a:r>
          </a:p>
        </p:txBody>
      </p:sp>
      <p:sp>
        <p:nvSpPr>
          <p:cNvPr id="29" name="loop-body-4">
            <a:extLst xmlns:a="http://schemas.openxmlformats.org/drawingml/2006/main">
              <a:ext uri="{FF2B5EF4-FFF2-40B4-BE49-F238E27FC236}">
                <a16:creationId xmlns:a16="http://schemas.microsoft.com/office/drawing/2014/main" id="{6DED9E89-78FE-4793-AAB6-3302651E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确认 / 调整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保留原建议</a:t>
            </a:r>
          </a:p>
        </p:txBody>
      </p:sp>
      <p:sp>
        <p:nvSpPr>
          <p:cNvPr id="30" name="loop-no-5">
            <a:extLst xmlns:a="http://schemas.openxmlformats.org/drawingml/2006/main">
              <a:ext uri="{FF2B5EF4-FFF2-40B4-BE49-F238E27FC236}">
                <a16:creationId xmlns:a16="http://schemas.microsoft.com/office/drawing/2014/main" id="{722DD124-F4E9-483A-A845-4055ED5A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09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12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06</a:t>
            </a:r>
          </a:p>
        </p:txBody>
      </p:sp>
      <p:sp>
        <p:nvSpPr>
          <p:cNvPr id="31" name="loop-dot-5">
            <a:extLst xmlns:a="http://schemas.openxmlformats.org/drawingml/2006/main">
              <a:ext uri="{FF2B5EF4-FFF2-40B4-BE49-F238E27FC236}">
                <a16:creationId xmlns:a16="http://schemas.microsoft.com/office/drawing/2014/main" id="{C98AF344-9DA2-4AC2-9439-D6046D69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05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loop-title-5">
            <a:extLst xmlns:a="http://schemas.openxmlformats.org/drawingml/2006/main">
              <a:ext uri="{FF2B5EF4-FFF2-40B4-BE49-F238E27FC236}">
                <a16:creationId xmlns:a16="http://schemas.microsoft.com/office/drawing/2014/main" id="{FB6AA9D9-D7DB-4094-9A7B-37688054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85750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1725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原生回写</a:t>
            </a:r>
          </a:p>
        </p:txBody>
      </p:sp>
      <p:sp>
        <p:nvSpPr>
          <p:cNvPr id="33" name="loop-body-5">
            <a:extLst xmlns:a="http://schemas.openxmlformats.org/drawingml/2006/main">
              <a:ext uri="{FF2B5EF4-FFF2-40B4-BE49-F238E27FC236}">
                <a16:creationId xmlns:a16="http://schemas.microsoft.com/office/drawing/2014/main" id="{F51DF1A8-39EB-4B86-9EEA-8D7F88D2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71850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批注 / 成绩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教师评语</a:t>
            </a:r>
          </a:p>
        </p:txBody>
      </p:sp>
      <p:sp>
        <p:nvSpPr>
          <p:cNvPr id="34" name="loop-contract">
            <a:extLst xmlns:a="http://schemas.openxmlformats.org/drawingml/2006/main">
              <a:ext uri="{FF2B5EF4-FFF2-40B4-BE49-F238E27FC236}">
                <a16:creationId xmlns:a16="http://schemas.microsoft.com/office/drawing/2014/main" id="{D086A532-3221-41BB-B65E-0C329324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2250" b="1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GradeTrace + Word 交付契约</a:t>
            </a:r>
          </a:p>
        </p:txBody>
      </p:sp>
      <p:sp>
        <p:nvSpPr>
          <p:cNvPr id="35" name="loop-contract-detail">
            <a:extLst xmlns:a="http://schemas.openxmlformats.org/drawingml/2006/main">
              <a:ext uri="{FF2B5EF4-FFF2-40B4-BE49-F238E27FC236}">
                <a16:creationId xmlns:a16="http://schemas.microsoft.com/office/drawing/2014/main" id="{4F177E71-0F0D-4EED-9BDF-2FF5E8B5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42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evidence_id + image:1@paragraph:NN + 教师事件</a:t>
            </a:r>
          </a:p>
        </p:txBody>
      </p:sp>
      <p:sp>
        <p:nvSpPr>
          <p:cNvPr id="36" name="loop-boundary-bg">
            <a:extLst xmlns:a="http://schemas.openxmlformats.org/drawingml/2006/main">
              <a:ext uri="{FF2B5EF4-FFF2-40B4-BE49-F238E27FC236}">
                <a16:creationId xmlns:a16="http://schemas.microsoft.com/office/drawing/2014/main" id="{21EA6811-8B9F-4DF0-85D9-0075C87E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57750"/>
            <a:ext cx="2857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loop-boundary">
            <a:extLst xmlns:a="http://schemas.openxmlformats.org/drawingml/2006/main">
              <a:ext uri="{FF2B5EF4-FFF2-40B4-BE49-F238E27FC236}">
                <a16:creationId xmlns:a16="http://schemas.microsoft.com/office/drawing/2014/main" id="{27CA29BB-F048-488C-8F73-06A72E7A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35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低置信度不会自动发布</a:t>
            </a:r>
          </a:p>
        </p:txBody>
      </p:sp>
    </p:spTree>
    <p:extLst>
      <p:ext uri="{BB962C8B-B14F-4D97-AF65-F5344CB8AC3E}">
        <p14:creationId xmlns:p14="http://schemas.microsoft.com/office/powerpoint/2010/main" val="1465700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4">
            <a:extLst xmlns:a="http://schemas.openxmlformats.org/drawingml/2006/main">
              <a:ext uri="{FF2B5EF4-FFF2-40B4-BE49-F238E27FC236}">
                <a16:creationId xmlns:a16="http://schemas.microsoft.com/office/drawing/2014/main" id="{3D6A1EFB-8436-4BC2-A14B-560FBE8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GENERALITY · 双案例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FE84B41B-2FE6-4D23-B3E1-5766E97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B204A400-9477-4EBB-8706-F5698BC3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两种图文 Word，共用同一个原生交付契约</a:t>
            </a:r>
          </a:p>
        </p:txBody>
      </p:sp>
      <p:cxnSp>
        <p:nvCxnSpPr>
          <p:cNvPr id="45" name="top-rule-4"/>
          <p:cNvCxnSpPr/>
          <p:nvPr/>
        </p:nvCxn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3F30"/>
            </a:solidFill>
            <a:prstDash val="solid"/>
          </a:ln>
        </p:spPr>
      </p:cxnSp>
      <p:sp>
        <p:nvSpPr>
          <p:cNvPr id="5" name="cross-allergen-frame">
            <a:extLst xmlns:a="http://schemas.openxmlformats.org/drawingml/2006/main">
              <a:ext uri="{FF2B5EF4-FFF2-40B4-BE49-F238E27FC236}">
                <a16:creationId xmlns:a16="http://schemas.microsoft.com/office/drawing/2014/main" id="{A18BA78D-7FA2-437B-9D49-12E83930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381250" cy="4095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b4552593c4fa9"/>
          <a:stretch xmlns:a="http://schemas.openxmlformats.org/drawingml/2006/main"/>
        </p:blipFill>
        <p:spPr>
          <a:xfrm xmlns:a="http://schemas.openxmlformats.org/drawingml/2006/main">
            <a:off x="752475" y="2155451"/>
            <a:ext cx="2247900" cy="2909047"/>
          </a:xfrm>
          <a:prstGeom xmlns:a="http://schemas.openxmlformats.org/drawingml/2006/main" prst="rect">
            <a:avLst/>
          </a:prstGeom>
        </p:spPr>
      </p:pic>
      <p:sp>
        <p:nvSpPr>
          <p:cNvPr id="7" name="cross-game-frame">
            <a:extLst xmlns:a="http://schemas.openxmlformats.org/drawingml/2006/main">
              <a:ext uri="{FF2B5EF4-FFF2-40B4-BE49-F238E27FC236}">
                <a16:creationId xmlns:a16="http://schemas.microsoft.com/office/drawing/2014/main" id="{22B77BFC-4B30-4564-BAD8-67346050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62100"/>
            <a:ext cx="2381250" cy="4095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f7b690c5945cd"/>
          <a:stretch xmlns:a="http://schemas.openxmlformats.org/drawingml/2006/main"/>
        </p:blipFill>
        <p:spPr>
          <a:xfrm xmlns:a="http://schemas.openxmlformats.org/drawingml/2006/main">
            <a:off x="3552825" y="2155451"/>
            <a:ext cx="2247900" cy="2909047"/>
          </a:xfrm>
          <a:prstGeom xmlns:a="http://schemas.openxmlformats.org/drawingml/2006/main" prst="rect">
            <a:avLst/>
          </a:prstGeom>
        </p:spPr>
      </p:pic>
      <p:sp>
        <p:nvSpPr>
          <p:cNvPr id="9" name="cross-eq">
            <a:extLst xmlns:a="http://schemas.openxmlformats.org/drawingml/2006/main">
              <a:ext uri="{FF2B5EF4-FFF2-40B4-BE49-F238E27FC236}">
                <a16:creationId xmlns:a16="http://schemas.microsoft.com/office/drawing/2014/main" id="{DD6CD192-FE86-4AD3-A69E-75687256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146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435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≠</a:t>
            </a:r>
          </a:p>
        </p:txBody>
      </p:sp>
      <p:sp>
        <p:nvSpPr>
          <p:cNvPr id="10" name="cross-title">
            <a:extLst xmlns:a="http://schemas.openxmlformats.org/drawingml/2006/main">
              <a:ext uri="{FF2B5EF4-FFF2-40B4-BE49-F238E27FC236}">
                <a16:creationId xmlns:a16="http://schemas.microsoft.com/office/drawing/2014/main" id="{EBFF9A07-AC59-4E7A-BD26-723961C6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54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24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不是课程专用模板</a:t>
            </a:r>
          </a:p>
        </p:txBody>
      </p:sp>
      <p:sp>
        <p:nvSpPr>
          <p:cNvPr id="11" name="cross-body">
            <a:extLst xmlns:a="http://schemas.openxmlformats.org/drawingml/2006/main">
              <a:ext uri="{FF2B5EF4-FFF2-40B4-BE49-F238E27FC236}">
                <a16:creationId xmlns:a16="http://schemas.microsoft.com/office/drawing/2014/main" id="{59E1A04E-AAB6-4EF4-9491-255B9194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3810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5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过敏原报告关注标准曲线；游戏开发报告关注运行截图。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5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Agent 复用的是“图文解析 → 证据定位 → Word 批注 → 教师回填”，不是僵硬关键词。</a:t>
            </a:r>
          </a:p>
        </p:txBody>
      </p:sp>
      <p:sp>
        <p:nvSpPr>
          <p:cNvPr id="12" name="cross-allergen-label-bg">
            <a:extLst xmlns:a="http://schemas.openxmlformats.org/drawingml/2006/main">
              <a:ext uri="{FF2B5EF4-FFF2-40B4-BE49-F238E27FC236}">
                <a16:creationId xmlns:a16="http://schemas.microsoft.com/office/drawing/2014/main" id="{D0BFDDC2-E8AD-469B-A3C6-661EA4BD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2343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ross-allergen-label">
            <a:extLst xmlns:a="http://schemas.openxmlformats.org/drawingml/2006/main">
              <a:ext uri="{FF2B5EF4-FFF2-40B4-BE49-F238E27FC236}">
                <a16:creationId xmlns:a16="http://schemas.microsoft.com/office/drawing/2014/main" id="{22A62645-923D-41DC-995A-AF5D0064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过敏原 · 图文 Word</a:t>
            </a:r>
          </a:p>
        </p:txBody>
      </p:sp>
      <p:sp>
        <p:nvSpPr>
          <p:cNvPr id="14" name="cross-game-label-bg">
            <a:extLst xmlns:a="http://schemas.openxmlformats.org/drawingml/2006/main">
              <a:ext uri="{FF2B5EF4-FFF2-40B4-BE49-F238E27FC236}">
                <a16:creationId xmlns:a16="http://schemas.microsoft.com/office/drawing/2014/main" id="{FEA41757-B2CA-4949-8199-5035D8BD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848350"/>
            <a:ext cx="2343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ross-game-label">
            <a:extLst xmlns:a="http://schemas.openxmlformats.org/drawingml/2006/main">
              <a:ext uri="{FF2B5EF4-FFF2-40B4-BE49-F238E27FC236}">
                <a16:creationId xmlns:a16="http://schemas.microsoft.com/office/drawing/2014/main" id="{00D316F9-9F55-489F-A90A-B1B8E43C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674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游戏开发 · 图文 Word</a:t>
            </a:r>
          </a:p>
        </p:txBody>
      </p:sp>
      <p:sp>
        <p:nvSpPr>
          <p:cNvPr id="16" name="cross-disclosure-bg">
            <a:extLst xmlns:a="http://schemas.openxmlformats.org/drawingml/2006/main">
              <a:ext uri="{FF2B5EF4-FFF2-40B4-BE49-F238E27FC236}">
                <a16:creationId xmlns:a16="http://schemas.microsoft.com/office/drawing/2014/main" id="{DB453450-1BB0-4166-900D-AEEFB0BA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3619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F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ross-disclosure">
            <a:extLst xmlns:a="http://schemas.openxmlformats.org/drawingml/2006/main">
              <a:ext uri="{FF2B5EF4-FFF2-40B4-BE49-F238E27FC236}">
                <a16:creationId xmlns:a16="http://schemas.microsoft.com/office/drawing/2014/main" id="{2225CD04-BF2C-4C1B-AFD4-82C0BC6D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29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全部公开内容均无真实学生身份与原文</a:t>
            </a:r>
          </a:p>
        </p:txBody>
      </p:sp>
    </p:spTree>
    <p:extLst>
      <p:ext uri="{BB962C8B-B14F-4D97-AF65-F5344CB8AC3E}">
        <p14:creationId xmlns:p14="http://schemas.microsoft.com/office/powerpoint/2010/main" val="715060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5">
            <a:extLst xmlns:a="http://schemas.openxmlformats.org/drawingml/2006/main">
              <a:ext uri="{FF2B5EF4-FFF2-40B4-BE49-F238E27FC236}">
                <a16:creationId xmlns:a16="http://schemas.microsoft.com/office/drawing/2014/main" id="{ADD45786-152A-46CA-A4C3-328789E5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PRODUCT EXPERIENCE · 可运行 Demo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81AF2288-E82E-4D75-8B40-D367BA85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05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B31ABFCC-CAAA-403A-8B44-13474327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三分钟证明：图文 Word 进，批注 Word 出</a:t>
            </a:r>
          </a:p>
        </p:txBody>
      </p:sp>
      <p:cxnSp>
        <p:nvCxnSpPr>
          <p:cNvPr id="43" name="top-rule-5"/>
          <p:cNvCxnSpPr/>
          <p:nvPr/>
        </p:nvCxn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3F30"/>
            </a:solidFill>
            <a:prstDash val="solid"/>
          </a:ln>
        </p:spPr>
      </p:cxnSp>
      <p:sp>
        <p:nvSpPr>
          <p:cNvPr id="5" name="home-ui-frame">
            <a:extLst xmlns:a="http://schemas.openxmlformats.org/drawingml/2006/main">
              <a:ext uri="{FF2B5EF4-FFF2-40B4-BE49-F238E27FC236}">
                <a16:creationId xmlns:a16="http://schemas.microsoft.com/office/drawing/2014/main" id="{B82DF7BE-A9F4-43F2-A1B4-3DD2FBA2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8039100" cy="4610100"/>
          </a:xfrm>
          <a:prstGeom xmlns:a="http://schemas.openxmlformats.org/drawingml/2006/main" prst="roundRect">
            <a:avLst>
              <a:gd name="adj" fmla="val 16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63F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83aaeed954cb8"/>
          <a:srcRect xmlns:a="http://schemas.openxmlformats.org/drawingml/2006/main" l="345" t="0" r="3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61975" y="1533525"/>
            <a:ext cx="7905750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home-side-title">
            <a:extLst xmlns:a="http://schemas.openxmlformats.org/drawingml/2006/main">
              <a:ext uri="{FF2B5EF4-FFF2-40B4-BE49-F238E27FC236}">
                <a16:creationId xmlns:a16="http://schemas.microsoft.com/office/drawing/2014/main" id="{27405346-8044-47CC-833F-EFDD479E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225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三分钟内可验证</a:t>
            </a:r>
          </a:p>
        </p:txBody>
      </p:sp>
      <p:sp>
        <p:nvSpPr>
          <p:cNvPr id="8" name="home-check-0">
            <a:extLst xmlns:a="http://schemas.openxmlformats.org/drawingml/2006/main">
              <a:ext uri="{FF2B5EF4-FFF2-40B4-BE49-F238E27FC236}">
                <a16:creationId xmlns:a16="http://schemas.microsoft.com/office/drawing/2014/main" id="{0AD8D174-F5A3-42B0-ABFF-AFB78619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193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01</a:t>
            </a:r>
          </a:p>
        </p:txBody>
      </p:sp>
      <p:sp>
        <p:nvSpPr>
          <p:cNvPr id="9" name="home-check-text-0">
            <a:extLst xmlns:a="http://schemas.openxmlformats.org/drawingml/2006/main">
              <a:ext uri="{FF2B5EF4-FFF2-40B4-BE49-F238E27FC236}">
                <a16:creationId xmlns:a16="http://schemas.microsoft.com/office/drawing/2014/main" id="{EB48CEBF-B113-431B-94A4-699A15D6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622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425" b="1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加载图文 Word</a:t>
            </a:r>
          </a:p>
        </p:txBody>
      </p:sp>
      <p:sp>
        <p:nvSpPr>
          <p:cNvPr id="10" name="home-check-1">
            <a:extLst xmlns:a="http://schemas.openxmlformats.org/drawingml/2006/main">
              <a:ext uri="{FF2B5EF4-FFF2-40B4-BE49-F238E27FC236}">
                <a16:creationId xmlns:a16="http://schemas.microsoft.com/office/drawing/2014/main" id="{6FC1E2BC-4275-4D08-B435-F119B1F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02</a:t>
            </a:r>
          </a:p>
        </p:txBody>
      </p:sp>
      <p:sp>
        <p:nvSpPr>
          <p:cNvPr id="11" name="home-check-text-1">
            <a:extLst xmlns:a="http://schemas.openxmlformats.org/drawingml/2006/main">
              <a:ext uri="{FF2B5EF4-FFF2-40B4-BE49-F238E27FC236}">
                <a16:creationId xmlns:a16="http://schemas.microsoft.com/office/drawing/2014/main" id="{3C8FE26F-A30C-413F-A5B3-F3195826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90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425" b="1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MiniMax 看图 + 文</a:t>
            </a:r>
          </a:p>
        </p:txBody>
      </p:sp>
      <p:sp>
        <p:nvSpPr>
          <p:cNvPr id="12" name="home-check-2">
            <a:extLst xmlns:a="http://schemas.openxmlformats.org/drawingml/2006/main">
              <a:ext uri="{FF2B5EF4-FFF2-40B4-BE49-F238E27FC236}">
                <a16:creationId xmlns:a16="http://schemas.microsoft.com/office/drawing/2014/main" id="{A2F3AA2E-569A-41CA-8527-12C1526D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03</a:t>
            </a:r>
          </a:p>
        </p:txBody>
      </p:sp>
      <p:sp>
        <p:nvSpPr>
          <p:cNvPr id="13" name="home-check-text-2">
            <a:extLst xmlns:a="http://schemas.openxmlformats.org/drawingml/2006/main">
              <a:ext uri="{FF2B5EF4-FFF2-40B4-BE49-F238E27FC236}">
                <a16:creationId xmlns:a16="http://schemas.microsoft.com/office/drawing/2014/main" id="{E7EF726E-B056-4582-A272-C2C23365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425" b="1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教师终审并回填</a:t>
            </a:r>
          </a:p>
        </p:txBody>
      </p:sp>
      <p:sp>
        <p:nvSpPr>
          <p:cNvPr id="14" name="home-check-3">
            <a:extLst xmlns:a="http://schemas.openxmlformats.org/drawingml/2006/main">
              <a:ext uri="{FF2B5EF4-FFF2-40B4-BE49-F238E27FC236}">
                <a16:creationId xmlns:a16="http://schemas.microsoft.com/office/drawing/2014/main" id="{142E0D26-0E9B-4023-9764-915A9226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05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04</a:t>
            </a:r>
          </a:p>
        </p:txBody>
      </p:sp>
      <p:sp>
        <p:nvSpPr>
          <p:cNvPr id="15" name="home-check-text-3">
            <a:extLst xmlns:a="http://schemas.openxmlformats.org/drawingml/2006/main">
              <a:ext uri="{FF2B5EF4-FFF2-40B4-BE49-F238E27FC236}">
                <a16:creationId xmlns:a16="http://schemas.microsoft.com/office/drawing/2014/main" id="{8041EB74-5DD6-45BF-9DA3-BAE4E6D5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481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425" b="1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下载可编辑 Word</a:t>
            </a:r>
          </a:p>
        </p:txBody>
      </p:sp>
      <p:sp>
        <p:nvSpPr>
          <p:cNvPr id="16" name="home-check-4">
            <a:extLst xmlns:a="http://schemas.openxmlformats.org/drawingml/2006/main">
              <a:ext uri="{FF2B5EF4-FFF2-40B4-BE49-F238E27FC236}">
                <a16:creationId xmlns:a16="http://schemas.microsoft.com/office/drawing/2014/main" id="{A77BF41A-53E3-4C6D-94EB-98CE198E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33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05</a:t>
            </a:r>
          </a:p>
        </p:txBody>
      </p:sp>
      <p:sp>
        <p:nvSpPr>
          <p:cNvPr id="17" name="home-check-text-4">
            <a:extLst xmlns:a="http://schemas.openxmlformats.org/drawingml/2006/main">
              <a:ext uri="{FF2B5EF4-FFF2-40B4-BE49-F238E27FC236}">
                <a16:creationId xmlns:a16="http://schemas.microsoft.com/office/drawing/2014/main" id="{FD1C6C12-AA14-456E-A367-414FB626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768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425" b="1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查看学情并删除</a:t>
            </a:r>
          </a:p>
        </p:txBody>
      </p:sp>
      <p:sp>
        <p:nvSpPr>
          <p:cNvPr id="18" name="home-url-bg">
            <a:extLst xmlns:a="http://schemas.openxmlformats.org/drawingml/2006/main">
              <a:ext uri="{FF2B5EF4-FFF2-40B4-BE49-F238E27FC236}">
                <a16:creationId xmlns:a16="http://schemas.microsoft.com/office/drawing/2014/main" id="{19604074-2CAB-4028-8D7A-2C2CE2A3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76900"/>
            <a:ext cx="23812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F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ome-url">
            <a:extLst xmlns:a="http://schemas.openxmlformats.org/drawingml/2006/main">
              <a:ext uri="{FF2B5EF4-FFF2-40B4-BE49-F238E27FC236}">
                <a16:creationId xmlns:a16="http://schemas.microsoft.com/office/drawing/2014/main" id="{B051604E-9AD7-442D-A661-9CB0AEA1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95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yywebsite.cn/education/</a:t>
            </a:r>
          </a:p>
        </p:txBody>
      </p:sp>
    </p:spTree>
    <p:extLst>
      <p:ext uri="{BB962C8B-B14F-4D97-AF65-F5344CB8AC3E}">
        <p14:creationId xmlns:p14="http://schemas.microsoft.com/office/powerpoint/2010/main" val="321751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6">
            <a:extLst xmlns:a="http://schemas.openxmlformats.org/drawingml/2006/main">
              <a:ext uri="{FF2B5EF4-FFF2-40B4-BE49-F238E27FC236}">
                <a16:creationId xmlns:a16="http://schemas.microsoft.com/office/drawing/2014/main" id="{53AA592D-84BF-4CC3-8899-2E1811A7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CASE A · 生命科学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21897E47-6CC3-4AF4-96EA-8B012318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06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AD785006-BD5A-42F1-BF89-6DA12E27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过敏原：标准曲线图片，也能回到 Word 批注</a:t>
            </a:r>
          </a:p>
        </p:txBody>
      </p:sp>
      <p:cxnSp>
        <p:nvCxnSpPr>
          <p:cNvPr id="43" name="top-rule-6"/>
          <p:cNvCxnSpPr/>
          <p:nvPr/>
        </p:nvCxn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3F30"/>
            </a:solidFill>
            <a:prstDash val="solid"/>
          </a:ln>
        </p:spPr>
      </p:cxnSp>
      <p:sp>
        <p:nvSpPr>
          <p:cNvPr id="5" name="allergen-doc-frame">
            <a:extLst xmlns:a="http://schemas.openxmlformats.org/drawingml/2006/main">
              <a:ext uri="{FF2B5EF4-FFF2-40B4-BE49-F238E27FC236}">
                <a16:creationId xmlns:a16="http://schemas.microsoft.com/office/drawing/2014/main" id="{731F25FB-5445-4C1C-A985-2982972F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2781300" cy="48006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506531fe24493"/>
          <a:stretch xmlns:a="http://schemas.openxmlformats.org/drawingml/2006/main"/>
        </p:blipFill>
        <p:spPr>
          <a:xfrm xmlns:a="http://schemas.openxmlformats.org/drawingml/2006/main">
            <a:off x="600075" y="2134721"/>
            <a:ext cx="2647950" cy="3426759"/>
          </a:xfrm>
          <a:prstGeom xmlns:a="http://schemas.openxmlformats.org/drawingml/2006/main" prst="rect">
            <a:avLst/>
          </a:prstGeom>
        </p:spPr>
      </p:pic>
      <p:sp>
        <p:nvSpPr>
          <p:cNvPr id="7" name="allergen-ui-frame">
            <a:extLst xmlns:a="http://schemas.openxmlformats.org/drawingml/2006/main">
              <a:ext uri="{FF2B5EF4-FFF2-40B4-BE49-F238E27FC236}">
                <a16:creationId xmlns:a16="http://schemas.microsoft.com/office/drawing/2014/main" id="{F4BF7F71-4E8C-4416-871D-941F2BE7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562100"/>
            <a:ext cx="58864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63F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d2b0e16414f08"/>
          <a:srcRect xmlns:a="http://schemas.openxmlformats.org/drawingml/2006/main" l="0" t="833" r="0" b="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43325" y="1628775"/>
            <a:ext cx="5753100" cy="3181350"/>
          </a:xfrm>
          <a:prstGeom xmlns:a="http://schemas.openxmlformats.org/drawingml/2006/main" prst="rect">
            <a:avLst/>
          </a:prstGeom>
        </p:spPr>
      </p:pic>
      <p:sp>
        <p:nvSpPr>
          <p:cNvPr id="9" name="allergen-score-value">
            <a:extLst xmlns:a="http://schemas.openxmlformats.org/drawingml/2006/main">
              <a:ext uri="{FF2B5EF4-FFF2-40B4-BE49-F238E27FC236}">
                <a16:creationId xmlns:a16="http://schemas.microsoft.com/office/drawing/2014/main" id="{9091F1CC-6794-4CCE-9BBF-6EAD4FF5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383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57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68</a:t>
            </a:r>
          </a:p>
        </p:txBody>
      </p:sp>
      <p:sp>
        <p:nvSpPr>
          <p:cNvPr id="10" name="allergen-score-caption">
            <a:extLst xmlns:a="http://schemas.openxmlformats.org/drawingml/2006/main">
              <a:ext uri="{FF2B5EF4-FFF2-40B4-BE49-F238E27FC236}">
                <a16:creationId xmlns:a16="http://schemas.microsoft.com/office/drawing/2014/main" id="{62FF9CE9-CB95-4438-BBB8-FFCDBC18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规则回归 / 100</a:t>
            </a:r>
          </a:p>
        </p:txBody>
      </p:sp>
      <p:sp>
        <p:nvSpPr>
          <p:cNvPr id="11" name="allergen-confidence-value">
            <a:extLst xmlns:a="http://schemas.openxmlformats.org/drawingml/2006/main">
              <a:ext uri="{FF2B5EF4-FFF2-40B4-BE49-F238E27FC236}">
                <a16:creationId xmlns:a16="http://schemas.microsoft.com/office/drawing/2014/main" id="{29E3D1FE-C580-4247-B554-6DCBEFA5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6710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375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62%</a:t>
            </a:r>
          </a:p>
        </p:txBody>
      </p:sp>
      <p:sp>
        <p:nvSpPr>
          <p:cNvPr id="12" name="allergen-confidence-caption">
            <a:extLst xmlns:a="http://schemas.openxmlformats.org/drawingml/2006/main">
              <a:ext uri="{FF2B5EF4-FFF2-40B4-BE49-F238E27FC236}">
                <a16:creationId xmlns:a16="http://schemas.microsoft.com/office/drawing/2014/main" id="{491AE8DC-1C2E-4768-A21C-7FC948B7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815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分析维度置信度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触发教师终审</a:t>
            </a:r>
          </a:p>
        </p:txBody>
      </p:sp>
      <p:sp>
        <p:nvSpPr>
          <p:cNvPr id="13" name="allergen-why">
            <a:extLst xmlns:a="http://schemas.openxmlformats.org/drawingml/2006/main">
              <a:ext uri="{FF2B5EF4-FFF2-40B4-BE49-F238E27FC236}">
                <a16:creationId xmlns:a16="http://schemas.microsoft.com/office/drawing/2014/main" id="{E2A8A491-C2AE-4043-9812-C0B7037D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38750"/>
            <a:ext cx="563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5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Agent 识别标准曲线和对照证据；图片获授权后，判断会定位到图片所在 Word 段落，而不是只留在聊天框。</a:t>
            </a:r>
          </a:p>
        </p:txBody>
      </p:sp>
      <p:sp>
        <p:nvSpPr>
          <p:cNvPr id="14" name="allergen-boundary-bg">
            <a:extLst xmlns:a="http://schemas.openxmlformats.org/drawingml/2006/main">
              <a:ext uri="{FF2B5EF4-FFF2-40B4-BE49-F238E27FC236}">
                <a16:creationId xmlns:a16="http://schemas.microsoft.com/office/drawing/2014/main" id="{E18D0317-8457-419B-B6EF-8FD1D93A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86400"/>
            <a:ext cx="1790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llergen-boundary">
            <a:extLst xmlns:a="http://schemas.openxmlformats.org/drawingml/2006/main">
              <a:ext uri="{FF2B5EF4-FFF2-40B4-BE49-F238E27FC236}">
                <a16:creationId xmlns:a16="http://schemas.microsoft.com/office/drawing/2014/main" id="{0325114B-1465-4343-BBEA-53C10338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5054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教学检测 ≠ 医疗诊断</a:t>
            </a:r>
          </a:p>
        </p:txBody>
      </p:sp>
    </p:spTree>
    <p:extLst>
      <p:ext uri="{BB962C8B-B14F-4D97-AF65-F5344CB8AC3E}">
        <p14:creationId xmlns:p14="http://schemas.microsoft.com/office/powerpoint/2010/main" val="15446425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A0092860-65B1-486B-9E63-CFEC1CDB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CASE B · 游戏开发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10DEBE76-4EE6-4984-8651-D6BD0CF6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07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58F9AE28-3AB4-4257-831E-E3A8BAEB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游戏开发：模型看见截图，批注回到 Word</a:t>
            </a:r>
          </a:p>
        </p:txBody>
      </p:sp>
      <p:cxnSp>
        <p:nvCxnSpPr>
          <p:cNvPr id="43" name="top-rule-7"/>
          <p:cNvCxnSpPr/>
          <p:nvPr/>
        </p:nvCxn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3F30"/>
            </a:solidFill>
            <a:prstDash val="solid"/>
          </a:ln>
        </p:spPr>
      </p:cxnSp>
      <p:sp>
        <p:nvSpPr>
          <p:cNvPr id="5" name="game-doc-frame">
            <a:extLst xmlns:a="http://schemas.openxmlformats.org/drawingml/2006/main">
              <a:ext uri="{FF2B5EF4-FFF2-40B4-BE49-F238E27FC236}">
                <a16:creationId xmlns:a16="http://schemas.microsoft.com/office/drawing/2014/main" id="{8FB79BC6-B8B7-4D94-8B31-4509512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2781300" cy="48006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a4920ffc4495d"/>
          <a:stretch xmlns:a="http://schemas.openxmlformats.org/drawingml/2006/main"/>
        </p:blipFill>
        <p:spPr>
          <a:xfrm xmlns:a="http://schemas.openxmlformats.org/drawingml/2006/main">
            <a:off x="600075" y="2134721"/>
            <a:ext cx="2647950" cy="3426759"/>
          </a:xfrm>
          <a:prstGeom xmlns:a="http://schemas.openxmlformats.org/drawingml/2006/main" prst="rect">
            <a:avLst/>
          </a:prstGeom>
        </p:spPr>
      </p:pic>
      <p:sp>
        <p:nvSpPr>
          <p:cNvPr id="7" name="game-ui-frame">
            <a:extLst xmlns:a="http://schemas.openxmlformats.org/drawingml/2006/main">
              <a:ext uri="{FF2B5EF4-FFF2-40B4-BE49-F238E27FC236}">
                <a16:creationId xmlns:a16="http://schemas.microsoft.com/office/drawing/2014/main" id="{7E5A1330-A070-4C70-8ABF-237EAFF8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562100"/>
            <a:ext cx="58864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6A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bf7683d674da0"/>
          <a:srcRect xmlns:a="http://schemas.openxmlformats.org/drawingml/2006/main" l="0" t="833" r="0" b="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743325" y="1628775"/>
            <a:ext cx="5753100" cy="3181350"/>
          </a:xfrm>
          <a:prstGeom xmlns:a="http://schemas.openxmlformats.org/drawingml/2006/main" prst="rect">
            <a:avLst/>
          </a:prstGeom>
        </p:spPr>
      </p:pic>
      <p:sp>
        <p:nvSpPr>
          <p:cNvPr id="9" name="game-score-value">
            <a:extLst xmlns:a="http://schemas.openxmlformats.org/drawingml/2006/main">
              <a:ext uri="{FF2B5EF4-FFF2-40B4-BE49-F238E27FC236}">
                <a16:creationId xmlns:a16="http://schemas.microsoft.com/office/drawing/2014/main" id="{ECB40E50-50DA-4D71-AE0A-A1D94DDD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383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57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75</a:t>
            </a:r>
          </a:p>
        </p:txBody>
      </p:sp>
      <p:sp>
        <p:nvSpPr>
          <p:cNvPr id="10" name="game-score-caption">
            <a:extLst xmlns:a="http://schemas.openxmlformats.org/drawingml/2006/main">
              <a:ext uri="{FF2B5EF4-FFF2-40B4-BE49-F238E27FC236}">
                <a16:creationId xmlns:a16="http://schemas.microsoft.com/office/drawing/2014/main" id="{0AA5ECA8-F4C0-4334-8293-08FA03D8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生产建议 / 100</a:t>
            </a:r>
          </a:p>
        </p:txBody>
      </p:sp>
      <p:sp>
        <p:nvSpPr>
          <p:cNvPr id="11" name="game-confidence-value">
            <a:extLst xmlns:a="http://schemas.openxmlformats.org/drawingml/2006/main">
              <a:ext uri="{FF2B5EF4-FFF2-40B4-BE49-F238E27FC236}">
                <a16:creationId xmlns:a16="http://schemas.microsoft.com/office/drawing/2014/main" id="{B68A3AFC-D47F-4D6D-99D1-761A33E1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6710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375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1/1</a:t>
            </a:r>
          </a:p>
        </p:txBody>
      </p:sp>
      <p:sp>
        <p:nvSpPr>
          <p:cNvPr id="12" name="game-confidence-caption">
            <a:extLst xmlns:a="http://schemas.openxmlformats.org/drawingml/2006/main">
              <a:ext uri="{FF2B5EF4-FFF2-40B4-BE49-F238E27FC236}">
                <a16:creationId xmlns:a16="http://schemas.microsoft.com/office/drawing/2014/main" id="{ED796475-7D67-471E-8290-4096CDDE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815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报告图片已观察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触发教师终审</a:t>
            </a:r>
          </a:p>
        </p:txBody>
      </p:sp>
      <p:sp>
        <p:nvSpPr>
          <p:cNvPr id="13" name="game-why">
            <a:extLst xmlns:a="http://schemas.openxmlformats.org/drawingml/2006/main">
              <a:ext uri="{FF2B5EF4-FFF2-40B4-BE49-F238E27FC236}">
                <a16:creationId xmlns:a16="http://schemas.microsoft.com/office/drawing/2014/main" id="{06040B48-C010-41A1-9942-963ABE7C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38750"/>
            <a:ext cx="563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5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生产实测：查看 1 张合成截图，定位 image:1@paragraph:16；5 条原生批注中 1 条锚定图片。</a:t>
            </a:r>
          </a:p>
        </p:txBody>
      </p:sp>
      <p:sp>
        <p:nvSpPr>
          <p:cNvPr id="14" name="game-boundary-bg">
            <a:extLst xmlns:a="http://schemas.openxmlformats.org/drawingml/2006/main">
              <a:ext uri="{FF2B5EF4-FFF2-40B4-BE49-F238E27FC236}">
                <a16:creationId xmlns:a16="http://schemas.microsoft.com/office/drawing/2014/main" id="{D09A427D-2B4F-4067-AA43-1DB0A5D9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86400"/>
            <a:ext cx="1962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ame-boundary">
            <a:extLst xmlns:a="http://schemas.openxmlformats.org/drawingml/2006/main">
              <a:ext uri="{FF2B5EF4-FFF2-40B4-BE49-F238E27FC236}">
                <a16:creationId xmlns:a16="http://schemas.microsoft.com/office/drawing/2014/main" id="{46FAE146-58F7-432F-87C2-F34AFE40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054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图片证据 → 原位批注</a:t>
            </a:r>
          </a:p>
        </p:txBody>
      </p:sp>
    </p:spTree>
    <p:extLst>
      <p:ext uri="{BB962C8B-B14F-4D97-AF65-F5344CB8AC3E}">
        <p14:creationId xmlns:p14="http://schemas.microsoft.com/office/powerpoint/2010/main" val="2048756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8">
            <a:extLst xmlns:a="http://schemas.openxmlformats.org/drawingml/2006/main">
              <a:ext uri="{FF2B5EF4-FFF2-40B4-BE49-F238E27FC236}">
                <a16:creationId xmlns:a16="http://schemas.microsoft.com/office/drawing/2014/main" id="{633EC367-3356-4D68-B3A1-4741035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HUMAN-IN-THE-LOOP · 可审计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5C1D2730-315E-40E8-B2CC-621CDDF0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08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27312865-58C8-4A0E-8326-86531904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教师终审后，评语和最终成绩真正进入 Word</a:t>
            </a:r>
          </a:p>
        </p:txBody>
      </p:sp>
      <p:cxnSp>
        <p:nvCxnSpPr>
          <p:cNvPr id="57" name="top-rule-8"/>
          <p:cNvCxnSpPr/>
          <p:nvPr/>
        </p:nvCxn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3F30"/>
            </a:solidFill>
            <a:prstDash val="solid"/>
          </a:ln>
        </p:spPr>
      </p:cxnSp>
      <p:sp>
        <p:nvSpPr>
          <p:cNvPr id="5" name="review-ui-frame">
            <a:extLst xmlns:a="http://schemas.openxmlformats.org/drawingml/2006/main">
              <a:ext uri="{FF2B5EF4-FFF2-40B4-BE49-F238E27FC236}">
                <a16:creationId xmlns:a16="http://schemas.microsoft.com/office/drawing/2014/main" id="{1D9D8D43-4098-466F-902A-F30503B1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63F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cb7b4c8884bd6"/>
          <a:srcRect xmlns:a="http://schemas.openxmlformats.org/drawingml/2006/main" l="0" t="741" r="0" b="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81025" y="1552575"/>
            <a:ext cx="687705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review-flow">
            <a:extLst xmlns:a="http://schemas.openxmlformats.org/drawingml/2006/main">
              <a:ext uri="{FF2B5EF4-FFF2-40B4-BE49-F238E27FC236}">
                <a16:creationId xmlns:a16="http://schemas.microsoft.com/office/drawing/2014/main" id="{9CD30E05-F97E-4698-85CB-3D0456DB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5400" b="1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75</a:t>
            </a:r>
          </a:p>
        </p:txBody>
      </p:sp>
      <p:cxnSp>
        <p:nvCxnSpPr>
          <p:cNvPr id="61" name="review-arrow"/>
          <p:cNvCxnSpPr/>
          <p:nvPr/>
        </p:nvCxnSpPr>
        <p:spPr>
          <a:xfrm xmlns:a="http://schemas.openxmlformats.org/drawingml/2006/main">
            <a:off x="9258300" y="220980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42"/>
            </a:solidFill>
            <a:prstDash val="solid"/>
          </a:ln>
        </p:spPr>
      </p:cxnSp>
      <p:sp>
        <p:nvSpPr>
          <p:cNvPr id="9" name="review-final">
            <a:extLst xmlns:a="http://schemas.openxmlformats.org/drawingml/2006/main">
              <a:ext uri="{FF2B5EF4-FFF2-40B4-BE49-F238E27FC236}">
                <a16:creationId xmlns:a16="http://schemas.microsoft.com/office/drawing/2014/main" id="{A17C8804-D1DC-40A0-9AFD-CF70E01B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14500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54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77</a:t>
            </a:r>
          </a:p>
        </p:txBody>
      </p:sp>
      <p:sp>
        <p:nvSpPr>
          <p:cNvPr id="10" name="review-caption">
            <a:extLst xmlns:a="http://schemas.openxmlformats.org/drawingml/2006/main">
              <a:ext uri="{FF2B5EF4-FFF2-40B4-BE49-F238E27FC236}">
                <a16:creationId xmlns:a16="http://schemas.microsoft.com/office/drawing/2014/main" id="{7E03E467-FD37-4E07-ABAE-4BF817A5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模型建议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完整保留</a:t>
            </a:r>
          </a:p>
        </p:txBody>
      </p:sp>
      <p:sp>
        <p:nvSpPr>
          <p:cNvPr id="11" name="review-caption2">
            <a:extLst xmlns:a="http://schemas.openxmlformats.org/drawingml/2006/main">
              <a:ext uri="{FF2B5EF4-FFF2-40B4-BE49-F238E27FC236}">
                <a16:creationId xmlns:a16="http://schemas.microsoft.com/office/drawing/2014/main" id="{876CBBFF-4361-4798-9669-D373C62D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813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教师终审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写回 Word</a:t>
            </a:r>
          </a:p>
        </p:txBody>
      </p:sp>
      <p:sp>
        <p:nvSpPr>
          <p:cNvPr id="12" name="audit-0">
            <a:extLst xmlns:a="http://schemas.openxmlformats.org/drawingml/2006/main">
              <a:ext uri="{FF2B5EF4-FFF2-40B4-BE49-F238E27FC236}">
                <a16:creationId xmlns:a16="http://schemas.microsoft.com/office/drawing/2014/main" id="{CD67D170-4109-4481-B59D-407905DB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425" b="0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✓  调整前分项与理由</a:t>
            </a:r>
          </a:p>
        </p:txBody>
      </p:sp>
      <p:sp>
        <p:nvSpPr>
          <p:cNvPr id="13" name="audit-1">
            <a:extLst xmlns:a="http://schemas.openxmlformats.org/drawingml/2006/main">
              <a:ext uri="{FF2B5EF4-FFF2-40B4-BE49-F238E27FC236}">
                <a16:creationId xmlns:a16="http://schemas.microsoft.com/office/drawing/2014/main" id="{7C74BB1A-B654-48F3-BD4C-AB281580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425" b="0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✓  教师说明与最终分</a:t>
            </a:r>
          </a:p>
        </p:txBody>
      </p:sp>
      <p:sp>
        <p:nvSpPr>
          <p:cNvPr id="14" name="audit-2">
            <a:extLst xmlns:a="http://schemas.openxmlformats.org/drawingml/2006/main">
              <a:ext uri="{FF2B5EF4-FFF2-40B4-BE49-F238E27FC236}">
                <a16:creationId xmlns:a16="http://schemas.microsoft.com/office/drawing/2014/main" id="{B722F948-B809-4D49-9368-20A75EE6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425" b="0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✓  证据引用与置信度</a:t>
            </a:r>
          </a:p>
        </p:txBody>
      </p:sp>
      <p:sp>
        <p:nvSpPr>
          <p:cNvPr id="15" name="audit-3">
            <a:extLst xmlns:a="http://schemas.openxmlformats.org/drawingml/2006/main">
              <a:ext uri="{FF2B5EF4-FFF2-40B4-BE49-F238E27FC236}">
                <a16:creationId xmlns:a16="http://schemas.microsoft.com/office/drawing/2014/main" id="{48F50308-2B4A-4A3A-AE47-6D83C612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43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1425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✓  原生批注 + 成绩 + 教师评语</a:t>
            </a:r>
          </a:p>
        </p:txBody>
      </p:sp>
      <p:sp>
        <p:nvSpPr>
          <p:cNvPr id="16" name="review-rule-bg">
            <a:extLst xmlns:a="http://schemas.openxmlformats.org/drawingml/2006/main">
              <a:ext uri="{FF2B5EF4-FFF2-40B4-BE49-F238E27FC236}">
                <a16:creationId xmlns:a16="http://schemas.microsoft.com/office/drawing/2014/main" id="{D68EE8F3-5DAB-4302-B80E-8256DB08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29300"/>
            <a:ext cx="3714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F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view-rule">
            <a:extLst xmlns:a="http://schemas.openxmlformats.org/drawingml/2006/main">
              <a:ext uri="{FF2B5EF4-FFF2-40B4-BE49-F238E27FC236}">
                <a16:creationId xmlns:a16="http://schemas.microsoft.com/office/drawing/2014/main" id="{6617D56D-F592-4829-A5A5-8D05E746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483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未终审，不发布；确认后才重新生成交付 Word</a:t>
            </a:r>
          </a:p>
        </p:txBody>
      </p:sp>
    </p:spTree>
    <p:extLst>
      <p:ext uri="{BB962C8B-B14F-4D97-AF65-F5344CB8AC3E}">
        <p14:creationId xmlns:p14="http://schemas.microsoft.com/office/powerpoint/2010/main" val="809819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9">
            <a:extLst xmlns:a="http://schemas.openxmlformats.org/drawingml/2006/main">
              <a:ext uri="{FF2B5EF4-FFF2-40B4-BE49-F238E27FC236}">
                <a16:creationId xmlns:a16="http://schemas.microsoft.com/office/drawing/2014/main" id="{FFA6212E-0CAF-4932-B282-0CA911FA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LEARNING DIAGNOSIS · 已复核数据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2317194E-9167-4462-B81F-62BA73ED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09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69391FFA-E64C-45BC-B200-215488BA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批改的终点不是分数，而是下一次教学动作</a:t>
            </a:r>
          </a:p>
        </p:txBody>
      </p:sp>
      <p:cxnSp>
        <p:nvCxnSpPr>
          <p:cNvPr id="37" name="top-rule-9"/>
          <p:cNvCxnSpPr/>
          <p:nvPr/>
        </p:nvCxn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3F30"/>
            </a:solidFill>
            <a:prstDash val="solid"/>
          </a:ln>
        </p:spPr>
      </p:cxnSp>
      <p:sp>
        <p:nvSpPr>
          <p:cNvPr id="5" name="diagnosis-ui-frame">
            <a:extLst xmlns:a="http://schemas.openxmlformats.org/drawingml/2006/main">
              <a:ext uri="{FF2B5EF4-FFF2-40B4-BE49-F238E27FC236}">
                <a16:creationId xmlns:a16="http://schemas.microsoft.com/office/drawing/2014/main" id="{6FE11258-D368-4610-9472-C0F6EC88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752475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63F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6d18fe2054726"/>
          <a:srcRect xmlns:a="http://schemas.openxmlformats.org/drawingml/2006/main" l="0" t="732" r="0" b="7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" y="1552575"/>
            <a:ext cx="73914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diag-count-value">
            <a:extLst xmlns:a="http://schemas.openxmlformats.org/drawingml/2006/main">
              <a:ext uri="{FF2B5EF4-FFF2-40B4-BE49-F238E27FC236}">
                <a16:creationId xmlns:a16="http://schemas.microsoft.com/office/drawing/2014/main" id="{E34EE5D4-2EBB-400F-9A02-165E83E4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8115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435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4</a:t>
            </a:r>
          </a:p>
        </p:txBody>
      </p:sp>
      <p:sp>
        <p:nvSpPr>
          <p:cNvPr id="8" name="diag-count-caption">
            <a:extLst xmlns:a="http://schemas.openxmlformats.org/drawingml/2006/main">
              <a:ext uri="{FF2B5EF4-FFF2-40B4-BE49-F238E27FC236}">
                <a16:creationId xmlns:a16="http://schemas.microsoft.com/office/drawing/2014/main" id="{CC5DC4DD-A828-445D-AFDB-CBB30A13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已复核样本</a:t>
            </a:r>
          </a:p>
        </p:txBody>
      </p:sp>
      <p:sp>
        <p:nvSpPr>
          <p:cNvPr id="9" name="diag-average-value">
            <a:extLst xmlns:a="http://schemas.openxmlformats.org/drawingml/2006/main">
              <a:ext uri="{FF2B5EF4-FFF2-40B4-BE49-F238E27FC236}">
                <a16:creationId xmlns:a16="http://schemas.microsoft.com/office/drawing/2014/main" id="{0818BB7F-78A8-4B96-B6DA-E465CC62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811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435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73.5</a:t>
            </a:r>
          </a:p>
        </p:txBody>
      </p:sp>
      <p:sp>
        <p:nvSpPr>
          <p:cNvPr id="10" name="diag-average-caption">
            <a:extLst xmlns:a="http://schemas.openxmlformats.org/drawingml/2006/main">
              <a:ext uri="{FF2B5EF4-FFF2-40B4-BE49-F238E27FC236}">
                <a16:creationId xmlns:a16="http://schemas.microsoft.com/office/drawing/2014/main" id="{553E656E-2B9B-4390-BD1E-A5997184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955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班级均分</a:t>
            </a:r>
          </a:p>
        </p:txBody>
      </p:sp>
      <p:sp>
        <p:nvSpPr>
          <p:cNvPr id="11" name="diag-rate-value">
            <a:extLst xmlns:a="http://schemas.openxmlformats.org/drawingml/2006/main">
              <a:ext uri="{FF2B5EF4-FFF2-40B4-BE49-F238E27FC236}">
                <a16:creationId xmlns:a16="http://schemas.microsoft.com/office/drawing/2014/main" id="{7B78077D-396F-40F5-B51B-3CDB02DD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528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435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53%</a:t>
            </a:r>
          </a:p>
        </p:txBody>
      </p:sp>
      <p:sp>
        <p:nvSpPr>
          <p:cNvPr id="12" name="diag-rate-caption">
            <a:extLst xmlns:a="http://schemas.openxmlformats.org/drawingml/2006/main">
              <a:ext uri="{FF2B5EF4-FFF2-40B4-BE49-F238E27FC236}">
                <a16:creationId xmlns:a16="http://schemas.microsoft.com/office/drawing/2014/main" id="{EA84CC52-744A-4143-AB3B-1A6D56FF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672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最弱维度达成率</a:t>
            </a:r>
          </a:p>
        </p:txBody>
      </p:sp>
      <p:sp>
        <p:nvSpPr>
          <p:cNvPr id="13" name="diag-action">
            <a:extLst xmlns:a="http://schemas.openxmlformats.org/drawingml/2006/main">
              <a:ext uri="{FF2B5EF4-FFF2-40B4-BE49-F238E27FC236}">
                <a16:creationId xmlns:a16="http://schemas.microsoft.com/office/drawing/2014/main" id="{6D54A993-F3D8-4292-8B06-EF6F1238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1965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建议教学动作：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用同一组数据示范“描述结果、解释原因、验证结论、讨论误差”的差异。</a:t>
            </a:r>
          </a:p>
        </p:txBody>
      </p:sp>
    </p:spTree>
    <p:extLst>
      <p:ext uri="{BB962C8B-B14F-4D97-AF65-F5344CB8AC3E}">
        <p14:creationId xmlns:p14="http://schemas.microsoft.com/office/powerpoint/2010/main" val="11564700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10">
            <a:extLst xmlns:a="http://schemas.openxmlformats.org/drawingml/2006/main">
              <a:ext uri="{FF2B5EF4-FFF2-40B4-BE49-F238E27FC236}">
                <a16:creationId xmlns:a16="http://schemas.microsoft.com/office/drawing/2014/main" id="{5D68156B-3424-4E25-9821-68DEB6BC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ENGINEERING · 生产基线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EA3A4916-8B05-4D1B-AF24-4D1A7D28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9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10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5FF55EBA-2716-4952-8957-407C85A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30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可复现工程：图片证据如何变成 Word 原生批注</a:t>
            </a:r>
          </a:p>
        </p:txBody>
      </p:sp>
      <p:cxnSp>
        <p:nvCxnSpPr>
          <p:cNvPr id="101" name="top-rule-10"/>
          <p:cNvCxnSpPr/>
          <p:nvPr/>
        </p:nvCxnSpPr>
        <p:spPr>
          <a:xfrm xmlns:a="http://schemas.openxmlformats.org/drawingml/2006/main">
            <a:off x="514350" y="12573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3F30"/>
            </a:solidFill>
            <a:prstDash val="solid"/>
          </a:ln>
        </p:spPr>
      </p:cxnSp>
      <p:sp>
        <p:nvSpPr>
          <p:cNvPr id="5" name="arch-node-0">
            <a:extLst xmlns:a="http://schemas.openxmlformats.org/drawingml/2006/main">
              <a:ext uri="{FF2B5EF4-FFF2-40B4-BE49-F238E27FC236}">
                <a16:creationId xmlns:a16="http://schemas.microsoft.com/office/drawing/2014/main" id="{A1DF29CC-DEC9-4D51-A8E8-0E23BDA1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6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D3ED088B-D060-43E2-9B8A-D66E217D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1575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浏览器</a:t>
            </a:r>
          </a:p>
        </p:txBody>
      </p:sp>
      <p:sp>
        <p:nvSpPr>
          <p:cNvPr id="7" name="arch-body-0">
            <a:extLst xmlns:a="http://schemas.openxmlformats.org/drawingml/2006/main">
              <a:ext uri="{FF2B5EF4-FFF2-40B4-BE49-F238E27FC236}">
                <a16:creationId xmlns:a16="http://schemas.microsoft.com/office/drawing/2014/main" id="{FF26346C-4F0A-4C73-8766-B3C914B1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Vue 3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/education/</a:t>
            </a:r>
          </a:p>
        </p:txBody>
      </p:sp>
      <p:cxnSp>
        <p:nvCxnSpPr>
          <p:cNvPr id="105" name="arch-arrow-0"/>
          <p:cNvCxnSpPr/>
          <p:nvPr/>
        </p:nvCxnSpPr>
        <p:spPr>
          <a:xfrm xmlns:a="http://schemas.openxmlformats.org/drawingml/2006/main">
            <a:off x="2819400" y="24098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42"/>
            </a:solidFill>
            <a:prstDash val="solid"/>
          </a:ln>
        </p:spPr>
      </p:cxnSp>
      <p:sp>
        <p:nvSpPr>
          <p:cNvPr id="9" name="arch-node-1">
            <a:extLst xmlns:a="http://schemas.openxmlformats.org/drawingml/2006/main">
              <a:ext uri="{FF2B5EF4-FFF2-40B4-BE49-F238E27FC236}">
                <a16:creationId xmlns:a16="http://schemas.microsoft.com/office/drawing/2014/main" id="{D599C75E-048A-4FA5-B645-B2945366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0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077399D4-14A3-43D3-AACC-2A42EB1D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1575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API</a:t>
            </a:r>
          </a:p>
        </p:txBody>
      </p:sp>
      <p:sp>
        <p:nvSpPr>
          <p:cNvPr id="11" name="arch-body-1">
            <a:extLst xmlns:a="http://schemas.openxmlformats.org/drawingml/2006/main">
              <a:ext uri="{FF2B5EF4-FFF2-40B4-BE49-F238E27FC236}">
                <a16:creationId xmlns:a16="http://schemas.microsoft.com/office/drawing/2014/main" id="{967FFBDF-9449-4D6C-A748-5C3ED232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193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FastAPI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限流 / 校验</a:t>
            </a:r>
          </a:p>
        </p:txBody>
      </p:sp>
      <p:cxnSp>
        <p:nvCxnSpPr>
          <p:cNvPr id="109" name="arch-arrow-1"/>
          <p:cNvCxnSpPr/>
          <p:nvPr/>
        </p:nvCxnSpPr>
        <p:spPr>
          <a:xfrm xmlns:a="http://schemas.openxmlformats.org/drawingml/2006/main">
            <a:off x="5543550" y="24098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42"/>
            </a:solidFill>
            <a:prstDash val="solid"/>
          </a:ln>
        </p:spPr>
      </p:cxnSp>
      <p:sp>
        <p:nvSpPr>
          <p:cNvPr id="13" name="arch-node-2">
            <a:extLst xmlns:a="http://schemas.openxmlformats.org/drawingml/2006/main">
              <a:ext uri="{FF2B5EF4-FFF2-40B4-BE49-F238E27FC236}">
                <a16:creationId xmlns:a16="http://schemas.microsoft.com/office/drawing/2014/main" id="{59B8FC3A-8E08-4C76-A813-A43829B9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3F30"/>
          </a:solidFill>
          <a:ln xmlns:a="http://schemas.openxmlformats.org/drawingml/2006/main" w="9525">
            <a:solidFill>
              <a:srgbClr val="163F30"/>
            </a:solidFill>
            <a:prstDash val="solid"/>
          </a:ln>
        </p:spPr>
      </p:sp>
      <p:sp>
        <p:nvSpPr>
          <p:cNvPr id="14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48BFCE2F-0A4C-4872-B375-D0E7E3CC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1575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Agent</a:t>
            </a:r>
          </a:p>
        </p:txBody>
      </p:sp>
      <p:sp>
        <p:nvSpPr>
          <p:cNvPr id="15" name="arch-body-2">
            <a:extLst xmlns:a="http://schemas.openxmlformats.org/drawingml/2006/main">
              <a:ext uri="{FF2B5EF4-FFF2-40B4-BE49-F238E27FC236}">
                <a16:creationId xmlns:a16="http://schemas.microsoft.com/office/drawing/2014/main" id="{45B8EBE8-029B-47DB-B1AC-A2BFF29E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8DD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DCE8DD"/>
                </a:solidFill>
                <a:latin typeface="FandolHei"/>
                <a:ea typeface="FandolHei"/>
                <a:cs typeface="FandolHei"/>
              </a:rPr>
              <a:t>MiniMax-M3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CE8DD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DCE8DD"/>
                </a:solidFill>
                <a:latin typeface="FandolHei"/>
                <a:ea typeface="FandolHei"/>
                <a:cs typeface="FandolHei"/>
              </a:rPr>
              <a:t>GradeTrace + locator</a:t>
            </a:r>
          </a:p>
        </p:txBody>
      </p:sp>
      <p:cxnSp>
        <p:nvCxnSpPr>
          <p:cNvPr id="113" name="arch-arrow-2"/>
          <p:cNvCxnSpPr/>
          <p:nvPr/>
        </p:nvCxnSpPr>
        <p:spPr>
          <a:xfrm xmlns:a="http://schemas.openxmlformats.org/drawingml/2006/main">
            <a:off x="8267700" y="24098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42"/>
            </a:solidFill>
            <a:prstDash val="solid"/>
          </a:ln>
        </p:spPr>
      </p:cxnSp>
      <p:sp>
        <p:nvSpPr>
          <p:cNvPr id="17" name="arch-node-3">
            <a:extLst xmlns:a="http://schemas.openxmlformats.org/drawingml/2006/main">
              <a:ext uri="{FF2B5EF4-FFF2-40B4-BE49-F238E27FC236}">
                <a16:creationId xmlns:a16="http://schemas.microsoft.com/office/drawing/2014/main" id="{A6AFED5B-EFB1-41D1-8304-C2AFF344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0975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7D0C8"/>
            </a:solidFill>
            <a:prstDash val="solid"/>
          </a:ln>
        </p:spPr>
      </p:sp>
      <p:sp>
        <p:nvSpPr>
          <p:cNvPr id="18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3294FB21-1B75-47DF-93EA-558D345D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1575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教师</a:t>
            </a:r>
          </a:p>
        </p:txBody>
      </p:sp>
      <p:sp>
        <p:nvSpPr>
          <p:cNvPr id="19" name="arch-body-3">
            <a:extLst xmlns:a="http://schemas.openxmlformats.org/drawingml/2006/main">
              <a:ext uri="{FF2B5EF4-FFF2-40B4-BE49-F238E27FC236}">
                <a16:creationId xmlns:a16="http://schemas.microsoft.com/office/drawing/2014/main" id="{30DA1210-58B3-47B1-B8E4-E55707C6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193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终审事件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00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批注 / 成绩 / 评语</a:t>
            </a:r>
          </a:p>
        </p:txBody>
      </p:sp>
      <p:sp>
        <p:nvSpPr>
          <p:cNvPr id="20" name="fact-v-0">
            <a:extLst xmlns:a="http://schemas.openxmlformats.org/drawingml/2006/main">
              <a:ext uri="{FF2B5EF4-FFF2-40B4-BE49-F238E27FC236}">
                <a16:creationId xmlns:a16="http://schemas.microsoft.com/office/drawing/2014/main" id="{589B3B4E-445C-46B2-9084-61C5B549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27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1 GiB</a:t>
            </a:r>
          </a:p>
        </p:txBody>
      </p:sp>
      <p:sp>
        <p:nvSpPr>
          <p:cNvPr id="21" name="fact-c-0">
            <a:extLst xmlns:a="http://schemas.openxmlformats.org/drawingml/2006/main">
              <a:ext uri="{FF2B5EF4-FFF2-40B4-BE49-F238E27FC236}">
                <a16:creationId xmlns:a16="http://schemas.microsoft.com/office/drawing/2014/main" id="{669D7067-D3D9-4FF7-84AA-A2D52257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243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容器内存上限</a:t>
            </a:r>
          </a:p>
        </p:txBody>
      </p:sp>
      <p:sp>
        <p:nvSpPr>
          <p:cNvPr id="22" name="fact-v-1">
            <a:extLst xmlns:a="http://schemas.openxmlformats.org/drawingml/2006/main">
              <a:ext uri="{FF2B5EF4-FFF2-40B4-BE49-F238E27FC236}">
                <a16:creationId xmlns:a16="http://schemas.microsoft.com/office/drawing/2014/main" id="{C75C633A-8C4B-456B-85BC-D784DCDB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27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2</a:t>
            </a:r>
          </a:p>
        </p:txBody>
      </p:sp>
      <p:sp>
        <p:nvSpPr>
          <p:cNvPr id="23" name="fact-c-1">
            <a:extLst xmlns:a="http://schemas.openxmlformats.org/drawingml/2006/main">
              <a:ext uri="{FF2B5EF4-FFF2-40B4-BE49-F238E27FC236}">
                <a16:creationId xmlns:a16="http://schemas.microsoft.com/office/drawing/2014/main" id="{95015DCA-0761-4ED0-B4FC-9E954CD5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243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并发评分上限</a:t>
            </a:r>
          </a:p>
        </p:txBody>
      </p:sp>
      <p:sp>
        <p:nvSpPr>
          <p:cNvPr id="24" name="fact-v-2">
            <a:extLst xmlns:a="http://schemas.openxmlformats.org/drawingml/2006/main">
              <a:ext uri="{FF2B5EF4-FFF2-40B4-BE49-F238E27FC236}">
                <a16:creationId xmlns:a16="http://schemas.microsoft.com/office/drawing/2014/main" id="{41373CD2-AF94-40FB-9A85-44E904DC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27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24 h</a:t>
            </a:r>
          </a:p>
        </p:txBody>
      </p:sp>
      <p:sp>
        <p:nvSpPr>
          <p:cNvPr id="25" name="fact-c-2">
            <a:extLst xmlns:a="http://schemas.openxmlformats.org/drawingml/2006/main">
              <a:ext uri="{FF2B5EF4-FFF2-40B4-BE49-F238E27FC236}">
                <a16:creationId xmlns:a16="http://schemas.microsoft.com/office/drawing/2014/main" id="{9AD41021-4AD0-486E-B6B2-3E813039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243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默认自动删除</a:t>
            </a:r>
          </a:p>
        </p:txBody>
      </p:sp>
      <p:sp>
        <p:nvSpPr>
          <p:cNvPr id="26" name="fact-v-3">
            <a:extLst xmlns:a="http://schemas.openxmlformats.org/drawingml/2006/main">
              <a:ext uri="{FF2B5EF4-FFF2-40B4-BE49-F238E27FC236}">
                <a16:creationId xmlns:a16="http://schemas.microsoft.com/office/drawing/2014/main" id="{69F3604F-9FEA-4B01-9C67-B11468A5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27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25 MiB</a:t>
            </a:r>
          </a:p>
        </p:txBody>
      </p:sp>
      <p:sp>
        <p:nvSpPr>
          <p:cNvPr id="27" name="fact-c-3">
            <a:extLst xmlns:a="http://schemas.openxmlformats.org/drawingml/2006/main">
              <a:ext uri="{FF2B5EF4-FFF2-40B4-BE49-F238E27FC236}">
                <a16:creationId xmlns:a16="http://schemas.microsoft.com/office/drawing/2014/main" id="{86007B3C-9DF5-4F2C-AAEC-FC6B070F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单文件上传上限</a:t>
            </a:r>
          </a:p>
        </p:txBody>
      </p:sp>
      <p:sp>
        <p:nvSpPr>
          <p:cNvPr id="28" name="fact-v-4">
            <a:extLst xmlns:a="http://schemas.openxmlformats.org/drawingml/2006/main">
              <a:ext uri="{FF2B5EF4-FFF2-40B4-BE49-F238E27FC236}">
                <a16:creationId xmlns:a16="http://schemas.microsoft.com/office/drawing/2014/main" id="{E3F381CA-028C-41A6-84A6-6244431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577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2700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18</a:t>
            </a:r>
          </a:p>
        </p:txBody>
      </p:sp>
      <p:sp>
        <p:nvSpPr>
          <p:cNvPr id="29" name="fact-c-4">
            <a:extLst xmlns:a="http://schemas.openxmlformats.org/drawingml/2006/main">
              <a:ext uri="{FF2B5EF4-FFF2-40B4-BE49-F238E27FC236}">
                <a16:creationId xmlns:a16="http://schemas.microsoft.com/office/drawing/2014/main" id="{7E39D02E-DAFE-4DDB-AD86-A7559717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530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图文 Word / 闭环测试</a:t>
            </a:r>
          </a:p>
        </p:txBody>
      </p:sp>
      <p:sp>
        <p:nvSpPr>
          <p:cNvPr id="30" name="fact-v-5">
            <a:extLst xmlns:a="http://schemas.openxmlformats.org/drawingml/2006/main">
              <a:ext uri="{FF2B5EF4-FFF2-40B4-BE49-F238E27FC236}">
                <a16:creationId xmlns:a16="http://schemas.microsoft.com/office/drawing/2014/main" id="{F053A629-17A0-47E8-AF9B-190676F2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270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0</a:t>
            </a:r>
          </a:p>
        </p:txBody>
      </p:sp>
      <p:sp>
        <p:nvSpPr>
          <p:cNvPr id="31" name="fact-c-5">
            <a:extLst xmlns:a="http://schemas.openxmlformats.org/drawingml/2006/main">
              <a:ext uri="{FF2B5EF4-FFF2-40B4-BE49-F238E27FC236}">
                <a16:creationId xmlns:a16="http://schemas.microsoft.com/office/drawing/2014/main" id="{217F890E-CAEE-483A-8784-AA3BB64E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530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defRPr>
            </a:pPr>
            <a:r>
              <a:rPr sz="1275" b="0">
                <a:solidFill>
                  <a:srgbClr val="65736B"/>
                </a:solidFill>
                <a:latin typeface="FandolHei"/>
                <a:ea typeface="FandolHei"/>
                <a:cs typeface="FandolHei"/>
              </a:rPr>
              <a:t>仓库 / 镜像内密钥</a:t>
            </a:r>
          </a:p>
        </p:txBody>
      </p:sp>
      <p:sp>
        <p:nvSpPr>
          <p:cNvPr id="32" name="arch-prod-bg">
            <a:extLst xmlns:a="http://schemas.openxmlformats.org/drawingml/2006/main">
              <a:ext uri="{FF2B5EF4-FFF2-40B4-BE49-F238E27FC236}">
                <a16:creationId xmlns:a16="http://schemas.microsoft.com/office/drawing/2014/main" id="{380D3FD8-C158-4903-BA13-1B762E77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81700"/>
            <a:ext cx="71437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rch-prod">
            <a:extLst xmlns:a="http://schemas.openxmlformats.org/drawingml/2006/main">
              <a:ext uri="{FF2B5EF4-FFF2-40B4-BE49-F238E27FC236}">
                <a16:creationId xmlns:a16="http://schemas.microsoft.com/office/drawing/2014/main" id="{ABEB5FC7-8797-432A-9BB7-F8216C99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0007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1200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非 root · 文本先脱敏 · 图片逐任务授权 · 1 GiB · 失败显式降级</a:t>
            </a:r>
          </a:p>
        </p:txBody>
      </p:sp>
    </p:spTree>
    <p:extLst>
      <p:ext uri="{BB962C8B-B14F-4D97-AF65-F5344CB8AC3E}">
        <p14:creationId xmlns:p14="http://schemas.microsoft.com/office/powerpoint/2010/main" val="1527511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2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lose-band">
            <a:extLst xmlns:a="http://schemas.openxmlformats.org/drawingml/2006/main">
              <a:ext uri="{FF2B5EF4-FFF2-40B4-BE49-F238E27FC236}">
                <a16:creationId xmlns:a16="http://schemas.microsoft.com/office/drawing/2014/main" id="{44EAE0CA-0836-4011-B2D1-E1B40943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2"/>
          </a:solidFill>
          <a:ln xmlns:a="http://schemas.openxmlformats.org/drawingml/2006/main" w="0">
            <a:solidFill>
              <a:srgbClr val="E96A42"/>
            </a:solidFill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666F8624-CED5-417E-8322-3E475E88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D7C9"/>
                </a:solidFill>
                <a:latin typeface="FandolHei"/>
                <a:ea typeface="FandolHei"/>
                <a:cs typeface="FandolHei"/>
              </a:defRPr>
            </a:pPr>
            <a:r>
              <a:rPr sz="1200" b="1">
                <a:solidFill>
                  <a:srgbClr val="F5D7C9"/>
                </a:solidFill>
                <a:latin typeface="FandolHei"/>
                <a:ea typeface="FandolHei"/>
                <a:cs typeface="FandolHei"/>
              </a:rPr>
              <a:t>独立变量 · GOAI 2026 AI+教育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0CF4747-955F-4E80-9D32-8CBC3B10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5100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上传图文 Word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5100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交还批注 Word</a:t>
            </a:r>
          </a:p>
        </p:txBody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4CDDBFE0-FC21-482F-96F7-A22BD6F6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CE8DD"/>
                </a:solidFill>
                <a:latin typeface="FandolHei"/>
                <a:ea typeface="FandolHei"/>
                <a:cs typeface="FandolHei"/>
              </a:defRPr>
            </a:pPr>
            <a:r>
              <a:rPr sz="1650" b="0">
                <a:solidFill>
                  <a:srgbClr val="DCE8DD"/>
                </a:solidFill>
                <a:latin typeface="FandolHei"/>
                <a:ea typeface="FandolHei"/>
                <a:cs typeface="FandolHei"/>
              </a:rPr>
              <a:t>初赛：图文 Word 原生批注 + 教师终审 + 真实模型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CE8DD"/>
                </a:solidFill>
                <a:latin typeface="FandolHei"/>
                <a:ea typeface="FandolHei"/>
                <a:cs typeface="FandolHei"/>
              </a:defRPr>
            </a:pPr>
            <a:r>
              <a:rPr sz="1650" b="0">
                <a:solidFill>
                  <a:srgbClr val="DCE8DD"/>
                </a:solidFill>
                <a:latin typeface="FandolHei"/>
                <a:ea typeface="FandolHei"/>
                <a:cs typeface="FandolHei"/>
              </a:rPr>
              <a:t>复赛：批量队列 + 课程权限 + 教师金标评测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CE8DD"/>
                </a:solidFill>
                <a:latin typeface="FandolHei"/>
                <a:ea typeface="FandolHei"/>
                <a:cs typeface="FandolHei"/>
              </a:defRPr>
            </a:pPr>
            <a:r>
              <a:rPr sz="1650" b="0">
                <a:solidFill>
                  <a:srgbClr val="DCE8DD"/>
                </a:solidFill>
                <a:latin typeface="FandolHei"/>
                <a:ea typeface="FandolHei"/>
                <a:cs typeface="FandolHei"/>
              </a:rPr>
              <a:t>决赛：指标封版 + 失败演练 + 现场答辩</a:t>
            </a:r>
          </a:p>
        </p:txBody>
      </p:sp>
      <p:cxnSp>
        <p:nvCxnSpPr>
          <p:cNvPr id="47" name="close-rule"/>
          <p:cNvCxnSpPr/>
          <p:nvPr/>
        </p:nvCxnSpPr>
        <p:spPr>
          <a:xfrm xmlns:a="http://schemas.openxmlformats.org/drawingml/2006/main">
            <a:off x="609600" y="55435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42"/>
            </a:solidFill>
            <a:prstDash val="solid"/>
          </a:ln>
        </p:spPr>
      </p:cxnSp>
      <p:sp>
        <p:nvSpPr>
          <p:cNvPr id="6" name="close-url">
            <a:extLst xmlns:a="http://schemas.openxmlformats.org/drawingml/2006/main">
              <a:ext uri="{FF2B5EF4-FFF2-40B4-BE49-F238E27FC236}">
                <a16:creationId xmlns:a16="http://schemas.microsoft.com/office/drawing/2014/main" id="{B6A26635-1978-4704-863E-235E021F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1500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https://yywebsite.cn/education/</a:t>
            </a:r>
          </a:p>
        </p:txBody>
      </p:sp>
      <p:sp>
        <p:nvSpPr>
          <p:cNvPr id="7" name="close-sheet">
            <a:extLst xmlns:a="http://schemas.openxmlformats.org/drawingml/2006/main">
              <a:ext uri="{FF2B5EF4-FFF2-40B4-BE49-F238E27FC236}">
                <a16:creationId xmlns:a16="http://schemas.microsoft.com/office/drawing/2014/main" id="{B2380C38-95C4-46F9-B941-5B7750F9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57250"/>
            <a:ext cx="4000500" cy="51054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close-sheet-title">
            <a:extLst xmlns:a="http://schemas.openxmlformats.org/drawingml/2006/main">
              <a:ext uri="{FF2B5EF4-FFF2-40B4-BE49-F238E27FC236}">
                <a16:creationId xmlns:a16="http://schemas.microsoft.com/office/drawing/2014/main" id="{9D34AD16-0157-4220-A787-CB0384C6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333500"/>
            <a:ext cx="318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3F30"/>
                </a:solidFill>
                <a:latin typeface="FandolHei"/>
                <a:ea typeface="FandolHei"/>
                <a:cs typeface="FandolHei"/>
              </a:defRPr>
            </a:pPr>
            <a:r>
              <a:rPr sz="2250" b="1">
                <a:solidFill>
                  <a:srgbClr val="163F30"/>
                </a:solidFill>
                <a:latin typeface="FandolHei"/>
                <a:ea typeface="FandolHei"/>
                <a:cs typeface="FandolHei"/>
              </a:rPr>
              <a:t>提交物已经形成同一证据包</a:t>
            </a:r>
          </a:p>
        </p:txBody>
      </p:sp>
      <p:sp>
        <p:nvSpPr>
          <p:cNvPr id="9" name="close-output-0">
            <a:extLst xmlns:a="http://schemas.openxmlformats.org/drawingml/2006/main">
              <a:ext uri="{FF2B5EF4-FFF2-40B4-BE49-F238E27FC236}">
                <a16:creationId xmlns:a16="http://schemas.microsoft.com/office/drawing/2014/main" id="{E966F30E-02B1-4A8F-9B9C-D7E44CF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01</a:t>
            </a:r>
          </a:p>
        </p:txBody>
      </p:sp>
      <p:sp>
        <p:nvSpPr>
          <p:cNvPr id="10" name="close-output-text-0">
            <a:extLst xmlns:a="http://schemas.openxmlformats.org/drawingml/2006/main">
              <a:ext uri="{FF2B5EF4-FFF2-40B4-BE49-F238E27FC236}">
                <a16:creationId xmlns:a16="http://schemas.microsoft.com/office/drawing/2014/main" id="{194BBE5C-1137-4F91-A13F-21738663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图文 Word 公网 Demo</a:t>
            </a:r>
          </a:p>
        </p:txBody>
      </p:sp>
      <p:sp>
        <p:nvSpPr>
          <p:cNvPr id="11" name="close-output-1">
            <a:extLst xmlns:a="http://schemas.openxmlformats.org/drawingml/2006/main">
              <a:ext uri="{FF2B5EF4-FFF2-40B4-BE49-F238E27FC236}">
                <a16:creationId xmlns:a16="http://schemas.microsoft.com/office/drawing/2014/main" id="{382C4DF4-9E95-4847-8643-FA4D2F88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02</a:t>
            </a:r>
          </a:p>
        </p:txBody>
      </p:sp>
      <p:sp>
        <p:nvSpPr>
          <p:cNvPr id="12" name="close-output-text-1">
            <a:extLst xmlns:a="http://schemas.openxmlformats.org/drawingml/2006/main">
              <a:ext uri="{FF2B5EF4-FFF2-40B4-BE49-F238E27FC236}">
                <a16:creationId xmlns:a16="http://schemas.microsoft.com/office/drawing/2014/main" id="{2A8FF845-A364-4DAD-ACBC-34173B70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可编辑批注 Word</a:t>
            </a:r>
          </a:p>
        </p:txBody>
      </p:sp>
      <p:sp>
        <p:nvSpPr>
          <p:cNvPr id="13" name="close-output-2">
            <a:extLst xmlns:a="http://schemas.openxmlformats.org/drawingml/2006/main">
              <a:ext uri="{FF2B5EF4-FFF2-40B4-BE49-F238E27FC236}">
                <a16:creationId xmlns:a16="http://schemas.microsoft.com/office/drawing/2014/main" id="{BA68DCC6-D861-4365-9B2D-A8E86718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03</a:t>
            </a:r>
          </a:p>
        </p:txBody>
      </p:sp>
      <p:sp>
        <p:nvSpPr>
          <p:cNvPr id="14" name="close-output-text-2">
            <a:extLst xmlns:a="http://schemas.openxmlformats.org/drawingml/2006/main">
              <a:ext uri="{FF2B5EF4-FFF2-40B4-BE49-F238E27FC236}">
                <a16:creationId xmlns:a16="http://schemas.microsoft.com/office/drawing/2014/main" id="{D4AFA9FD-288F-4C08-8D25-7AAF7472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PPTX / PDF 方案</a:t>
            </a:r>
          </a:p>
        </p:txBody>
      </p:sp>
      <p:sp>
        <p:nvSpPr>
          <p:cNvPr id="15" name="close-output-3">
            <a:extLst xmlns:a="http://schemas.openxmlformats.org/drawingml/2006/main">
              <a:ext uri="{FF2B5EF4-FFF2-40B4-BE49-F238E27FC236}">
                <a16:creationId xmlns:a16="http://schemas.microsoft.com/office/drawing/2014/main" id="{779CAF21-DC71-4AD3-B6F3-AB18F1B2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04</a:t>
            </a:r>
          </a:p>
        </p:txBody>
      </p:sp>
      <p:sp>
        <p:nvSpPr>
          <p:cNvPr id="16" name="close-output-text-3">
            <a:extLst xmlns:a="http://schemas.openxmlformats.org/drawingml/2006/main">
              <a:ext uri="{FF2B5EF4-FFF2-40B4-BE49-F238E27FC236}">
                <a16:creationId xmlns:a16="http://schemas.microsoft.com/office/drawing/2014/main" id="{6EAD5764-6EFF-4939-B197-5CB0A1C4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33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自然语音视频 + 双案例</a:t>
            </a:r>
          </a:p>
        </p:txBody>
      </p:sp>
      <p:sp>
        <p:nvSpPr>
          <p:cNvPr id="17" name="close-output-4">
            <a:extLst xmlns:a="http://schemas.openxmlformats.org/drawingml/2006/main">
              <a:ext uri="{FF2B5EF4-FFF2-40B4-BE49-F238E27FC236}">
                <a16:creationId xmlns:a16="http://schemas.microsoft.com/office/drawing/2014/main" id="{472C717B-3EF3-4314-A715-7840B41D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05</a:t>
            </a:r>
          </a:p>
        </p:txBody>
      </p:sp>
      <p:sp>
        <p:nvSpPr>
          <p:cNvPr id="18" name="close-output-text-4">
            <a:extLst xmlns:a="http://schemas.openxmlformats.org/drawingml/2006/main">
              <a:ext uri="{FF2B5EF4-FFF2-40B4-BE49-F238E27FC236}">
                <a16:creationId xmlns:a16="http://schemas.microsoft.com/office/drawing/2014/main" id="{492E1AE7-CB7E-4640-AAC1-10B712A3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运行与部署说明</a:t>
            </a:r>
          </a:p>
        </p:txBody>
      </p:sp>
      <p:sp>
        <p:nvSpPr>
          <p:cNvPr id="19" name="close-output-5">
            <a:extLst xmlns:a="http://schemas.openxmlformats.org/drawingml/2006/main">
              <a:ext uri="{FF2B5EF4-FFF2-40B4-BE49-F238E27FC236}">
                <a16:creationId xmlns:a16="http://schemas.microsoft.com/office/drawing/2014/main" id="{F187968D-91E9-437D-9EEF-7DB77352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defRPr>
            </a:pPr>
            <a:r>
              <a:rPr sz="975" b="1">
                <a:solidFill>
                  <a:srgbClr val="E96A42"/>
                </a:solidFill>
                <a:latin typeface="FandolHei"/>
                <a:ea typeface="FandolHei"/>
                <a:cs typeface="FandolHei"/>
              </a:rPr>
              <a:t>06</a:t>
            </a:r>
          </a:p>
        </p:txBody>
      </p:sp>
      <p:sp>
        <p:nvSpPr>
          <p:cNvPr id="20" name="close-output-text-5">
            <a:extLst xmlns:a="http://schemas.openxmlformats.org/drawingml/2006/main">
              <a:ext uri="{FF2B5EF4-FFF2-40B4-BE49-F238E27FC236}">
                <a16:creationId xmlns:a16="http://schemas.microsoft.com/office/drawing/2014/main" id="{8AAB9CBF-768F-4DA0-B91C-05B17AA0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defRPr>
            </a:pPr>
            <a:r>
              <a:rPr sz="1350" b="0">
                <a:solidFill>
                  <a:srgbClr val="14231C"/>
                </a:solidFill>
                <a:latin typeface="FandolHei"/>
                <a:ea typeface="FandolHei"/>
                <a:cs typeface="FandolHei"/>
              </a:rPr>
              <a:t>测试、合规与开源边界</a:t>
            </a:r>
          </a:p>
        </p:txBody>
      </p:sp>
      <p:sp>
        <p:nvSpPr>
          <p:cNvPr id="21" name="close-tag-bg">
            <a:extLst xmlns:a="http://schemas.openxmlformats.org/drawingml/2006/main">
              <a:ext uri="{FF2B5EF4-FFF2-40B4-BE49-F238E27FC236}">
                <a16:creationId xmlns:a16="http://schemas.microsoft.com/office/drawing/2014/main" id="{D746C5E2-F1D0-4D31-87A0-C2A1349E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3143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F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ose-tag">
            <a:extLst xmlns:a="http://schemas.openxmlformats.org/drawingml/2006/main">
              <a:ext uri="{FF2B5EF4-FFF2-40B4-BE49-F238E27FC236}">
                <a16:creationId xmlns:a16="http://schemas.microsoft.com/office/drawing/2014/main" id="{917926E0-25BB-4ECF-8172-5E999353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10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FandolHei"/>
                <a:ea typeface="FandolHei"/>
                <a:cs typeface="FandolHei"/>
              </a:defRPr>
            </a:pPr>
            <a:r>
              <a:rPr sz="1050" b="1">
                <a:solidFill>
                  <a:srgbClr val="FFFDF8"/>
                </a:solidFill>
                <a:latin typeface="FandolHei"/>
                <a:ea typeface="FandolHei"/>
                <a:cs typeface="FandolHei"/>
              </a:rPr>
              <a:t>图文原生 · 可追溯 · 可复核 · 可复用</a:t>
            </a:r>
          </a:p>
        </p:txBody>
      </p:sp>
    </p:spTree>
    <p:extLst>
      <p:ext uri="{BB962C8B-B14F-4D97-AF65-F5344CB8AC3E}">
        <p14:creationId xmlns:p14="http://schemas.microsoft.com/office/powerpoint/2010/main" val="637910899"/>
      </p:ext>
    </p:extLst>
  </p:cSld>
</p:sld>
</file>

<file path=ppt/theme/theme1.xml><?xml version="1.0" encoding="utf-8"?>
<a:theme xmlns:a="http://schemas.openxmlformats.org/drawingml/2006/main" name="ChatGPT">
  <a:themeElements>
    <a:clrScheme name="LabTrace Evidence Dossier">
      <a:dk1>
        <a:srgbClr val="0F2B22"/>
      </a:dk1>
      <a:lt1>
        <a:srgbClr val="FFFDF8"/>
      </a:lt1>
      <a:dk2>
        <a:srgbClr val="163F30"/>
      </a:dk2>
      <a:lt2>
        <a:srgbClr val="DCE8DD"/>
      </a:lt2>
      <a:accent1>
        <a:srgbClr val="163F30"/>
      </a:accent1>
      <a:accent2>
        <a:srgbClr val="E96A42"/>
      </a:accent2>
      <a:accent3>
        <a:srgbClr val="BFD3C4"/>
      </a:accent3>
      <a:accent4>
        <a:srgbClr val="D7B574"/>
      </a:accent4>
      <a:accent5>
        <a:srgbClr val="F5D7C9"/>
      </a:accent5>
      <a:accent6>
        <a:srgbClr val="65736B"/>
      </a:accent6>
      <a:hlink>
        <a:srgbClr val="E96A42"/>
      </a:hlink>
      <a:folHlink>
        <a:srgbClr val="D7B57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abTrace Evidence Dossi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2026-07-30T05:48:14.8570000Z</dcterms:created>
  <dcterms:modified xsi:type="dcterms:W3CDTF">2026-07-30T05:48:14.8580000Z</dcterms:modified>
</coreProperties>
</file>